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we're unveiling Predictive Wellness, our AI-driven solution for mental health insights. This project decodes the digital footprint of depression using machine learning. It's more than just a capstone; it's an investor-ready blueprint for proactive mental health intervention. We're here to show you how AI can transform mental health. Let's dive into the problem we're addressing.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live in a hyper-connected world, yet mental health issues are surging, especially among digital natives. The critical problem is that traditional diagnosis is reactive; we wait for symptoms to become severe before acting. But here's the opportunity: our daily digital habits leave 'digital biomarkers' that AI can decode. We're bridging this diagnostic gap. Now, let's look at how we're doing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our solution is a high-precision machine learning framework designed for proactive intervention. We're integrating multi-dimensional data—sleep, social media, physical activity—into a unified predictive engine. This enables personalized wellness recommendations and early clinical alerts for at-risk individuals. We're moving from reactive treatment to proactive prevention. But how do we gather this data? Let's explore our data ecosystem.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quantify the human experience, we engineered a comprehensive set of features. We didn't just look at one factor; we built a multi-dimensional ecosystem. This includes demographics, detailed digital footprints like screen time before sleep, and crucial lifestyle metrics such as sleep duration and social interaction. We also incorporated psychological proxies like stress and anxiety levels. This holistic approach allows us to capture a complete picture of an individual's mental state. Now, let's see what this data reveals.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exploratory data analysis reveals clear, actionable insights into the digital-mental health link. We found that high physical activity significantly reduces perceived stress markers, acting as a vital buffer. Conversely, screen exposure exceeding six hours daily shows a sharp increase in depression risk. And importantly, high social interaction levels mitigate the negative impacts of heavy social media use. These findings are crucial for understanding the interconnectedness of lifestyle factors, which we'll explore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correlation map is the heart of our feature selection. It shows how addiction, anxiety, and screen time are deeply intertwined, providing the 'why' behind our model's predictions. We see strong positive correlations between addiction levels and anxiety, highlighting their interconnectedness. Also, the specific social media platform, like Instagram versus TikTok, significantly impacts stress levels. Ultimately, sleep quality emerges as a central node, linking digital habits directly to an individual's mental state. This comprehensive understanding of feature relationships directly informed the design of our predictive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multi-model algorithmic framework is the engine driving our predictions. We meticulously preprocessed our data, using label encoding for categorical features and addressing class imbalance to ensure robust training. Then, we validated our approach with an 80/20 train-test split and stratified sampling for reliable evaluation. We didn't just pick one algorithm; we evaluated a suite of models, from Logistic Regression as our baseline to advanced XGBoost, to find the optimal solution. This rigorous process ensures our model's reliability and precision, which you'll see in our performance benchmarks.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results are truly staggering. Our XGBoost model achieved an unrivaled accuracy rate of 99.58%. This isn't just a high number; it's a critical indicator of our model's ability to accurately predict depression risk. While other models performed well, XGBoost consistently outperformed them, demonstrating its superior capability in handling complex data patterns. This level of precision is paramount when dealing with sensitive mental health data, and it sets a new benchmark for predictive wellness. Now, let's dive deeper into why XGBoost stands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XGBoost model doesn't just deliver high accuracy; it provides critical precision and recall for the most sensitive cases. This means we're not just getting answers right, we're getting the right answers for those who need them most. We achieved perfect precision for the non-depressed class, meaning we avoid false positives. Crucially, we hit 100% recall for the depressed class, ensuring we identify every individual at risk. This robust performance, especially the 0.91 F1-score for the minority class, proves its reliability. XGBoost handles the complex, non-linear relationships in our data, making it ideal for predicting mental health from diverse digital biomarkers. This exceptional performance sets the stage for real-world application, which we'll discuss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isn't just an academic exercise; our model is engineered for real-world impact and scalability. We've designed it for seamless API integration, ready to connect with existing wearable tech and wellness platforms. Imagine real-time monitoring, providing continuous risk assessment and instant alerts based on digital biomarkers. And because mental health data is sensitive, our architecture prioritizes privacy with end-to-end encryption and anonymized processing. This positions us perfectly to disrupt the half-trillion-dollar global mental health market. Now, let's look at the broader vision for this technology.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our project demonstrates that the future of mental health is predictive, moving us from reactive treatment to proactive prevention. We've shown that digital footprints are powerful indicators of mental wellness, allowing us to identify risks before they escalate. Our next steps involve expanding our dataset with longitudinal clinical data for even deeper accuracy. We'll then deploy scalable microservices for real-time API integration with wearable tech. Ultimately, we aim to partner with healthcare providers globally to implement early intervention programs.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1135856"/>
            <a:ext cx="9715500" cy="2871788"/>
          </a:xfrm>
          <a:prstGeom prst="rect">
            <a:avLst/>
          </a:prstGeom>
          <a:solidFill>
            <a:srgbClr val="0F172A">
              <a:alpha val="80000"/>
            </a:srgbClr>
          </a:solidFill>
          <a:ln/>
        </p:spPr>
      </p:sp>
      <p:sp>
        <p:nvSpPr>
          <p:cNvPr id="5" name="Shape 1"/>
          <p:cNvSpPr/>
          <p:nvPr/>
        </p:nvSpPr>
        <p:spPr>
          <a:xfrm>
            <a:off x="0" y="1135856"/>
            <a:ext cx="9715500" cy="7144"/>
          </a:xfrm>
          <a:prstGeom prst="rect">
            <a:avLst/>
          </a:prstGeom>
          <a:solidFill>
            <a:srgbClr val="D3F6FC"/>
          </a:solidFill>
          <a:ln/>
        </p:spPr>
      </p:sp>
      <p:sp>
        <p:nvSpPr>
          <p:cNvPr id="6" name="Shape 2"/>
          <p:cNvSpPr/>
          <p:nvPr/>
        </p:nvSpPr>
        <p:spPr>
          <a:xfrm>
            <a:off x="0" y="4000500"/>
            <a:ext cx="9715500" cy="7144"/>
          </a:xfrm>
          <a:prstGeom prst="rect">
            <a:avLst/>
          </a:prstGeom>
          <a:solidFill>
            <a:srgbClr val="D3F6FC"/>
          </a:solidFill>
          <a:ln/>
        </p:spPr>
      </p:sp>
      <p:sp>
        <p:nvSpPr>
          <p:cNvPr id="7" name="Text 3"/>
          <p:cNvSpPr/>
          <p:nvPr/>
        </p:nvSpPr>
        <p:spPr>
          <a:xfrm>
            <a:off x="571500" y="1911679"/>
            <a:ext cx="4286250" cy="1320143"/>
          </a:xfrm>
          <a:prstGeom prst="rect">
            <a:avLst/>
          </a:prstGeom>
          <a:noFill/>
          <a:ln/>
        </p:spPr>
        <p:txBody>
          <a:bodyPr wrap="square" lIns="0" tIns="0" rIns="0" bIns="0" rtlCol="0" anchor="t">
            <a:spAutoFit/>
          </a:bodyPr>
          <a:lstStyle/>
          <a:p>
            <a:pPr algn="l" indent="0" marL="0">
              <a:lnSpc>
                <a:spcPct val="88000"/>
              </a:lnSpc>
              <a:buNone/>
            </a:pPr>
            <a:r>
              <a:rPr lang="en-US" sz="4350" b="1" dirty="0">
                <a:solidFill>
                  <a:srgbClr val="FFFFFF"/>
                </a:solidFill>
                <a:latin typeface="Inter Black" pitchFamily="34" charset="0"/>
                <a:ea typeface="Inter Black" pitchFamily="34" charset="-122"/>
                <a:cs typeface="Inter Black" pitchFamily="34" charset="-120"/>
              </a:rPr>
              <a:t>Predictive Wellness</a:t>
            </a:r>
            <a:endParaRPr lang="en-US" sz="4350" dirty="0"/>
          </a:p>
        </p:txBody>
      </p:sp>
      <p:sp>
        <p:nvSpPr>
          <p:cNvPr id="8" name="Text 4"/>
          <p:cNvSpPr/>
          <p:nvPr/>
        </p:nvSpPr>
        <p:spPr>
          <a:xfrm>
            <a:off x="5736431" y="1994892"/>
            <a:ext cx="2857500" cy="553641"/>
          </a:xfrm>
          <a:prstGeom prst="rect">
            <a:avLst/>
          </a:prstGeom>
          <a:noFill/>
          <a:ln/>
        </p:spPr>
        <p:txBody>
          <a:bodyPr wrap="square" lIns="0" tIns="0" rIns="0" bIns="0" rtlCol="0" anchor="t">
            <a:spAutoFit/>
          </a:bodyPr>
          <a:lstStyle/>
          <a:p>
            <a:pPr algn="l" indent="0" marL="0">
              <a:buNone/>
            </a:pPr>
            <a:r>
              <a:rPr lang="en-US" sz="1700" spc="1" kern="0" dirty="0">
                <a:solidFill>
                  <a:srgbClr val="22D3EE"/>
                </a:solidFill>
                <a:latin typeface="Inter Light" pitchFamily="34" charset="0"/>
                <a:ea typeface="Inter Light" pitchFamily="34" charset="-122"/>
                <a:cs typeface="Inter Light" pitchFamily="34" charset="-120"/>
              </a:rPr>
              <a:t>AI-Driven Mental Health Insights</a:t>
            </a:r>
            <a:endParaRPr lang="en-US" sz="1700" dirty="0"/>
          </a:p>
        </p:txBody>
      </p:sp>
      <p:sp>
        <p:nvSpPr>
          <p:cNvPr id="9" name="Text 5"/>
          <p:cNvSpPr/>
          <p:nvPr/>
        </p:nvSpPr>
        <p:spPr>
          <a:xfrm>
            <a:off x="5736431" y="2691408"/>
            <a:ext cx="2857500" cy="457200"/>
          </a:xfrm>
          <a:prstGeom prst="rect">
            <a:avLst/>
          </a:prstGeom>
          <a:noFill/>
          <a:ln/>
        </p:spPr>
        <p:txBody>
          <a:bodyPr wrap="square" lIns="0" tIns="0" rIns="0" bIns="0" rtlCol="0" anchor="t">
            <a:spAutoFit/>
          </a:bodyPr>
          <a:lstStyle/>
          <a:p>
            <a:pPr algn="l" indent="0" marL="0">
              <a:lnSpc>
                <a:spcPct val="128000"/>
              </a:lnSpc>
              <a:buNone/>
            </a:pPr>
            <a:r>
              <a:rPr lang="en-US" sz="1050" dirty="0">
                <a:solidFill>
                  <a:srgbClr val="94A3B8"/>
                </a:solidFill>
                <a:latin typeface="Inter Light" pitchFamily="34" charset="0"/>
                <a:ea typeface="Inter Light" pitchFamily="34" charset="-122"/>
                <a:cs typeface="Inter Light" pitchFamily="34" charset="-120"/>
              </a:rPr>
              <a:t>Decoding the Digital Footprint of Depression through Machine Learning</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9715500" cy="1578769"/>
          </a:xfrm>
          <a:prstGeom prst="rect">
            <a:avLst/>
          </a:prstGeom>
          <a:solidFill>
            <a:srgbClr val="000000">
              <a:alpha val="0"/>
            </a:srgbClr>
          </a:solidFill>
          <a:ln/>
        </p:spPr>
      </p:sp>
      <p:sp>
        <p:nvSpPr>
          <p:cNvPr id="5" name="Shape 1"/>
          <p:cNvSpPr/>
          <p:nvPr/>
        </p:nvSpPr>
        <p:spPr>
          <a:xfrm>
            <a:off x="0" y="1571625"/>
            <a:ext cx="9715500" cy="7144"/>
          </a:xfrm>
          <a:prstGeom prst="rect">
            <a:avLst/>
          </a:prstGeom>
          <a:solidFill>
            <a:srgbClr val="F4F6F8"/>
          </a:solidFill>
          <a:ln/>
        </p:spPr>
      </p:sp>
      <p:sp>
        <p:nvSpPr>
          <p:cNvPr id="6" name="Text 2"/>
          <p:cNvSpPr/>
          <p:nvPr/>
        </p:nvSpPr>
        <p:spPr>
          <a:xfrm>
            <a:off x="571500" y="428625"/>
            <a:ext cx="9144000" cy="553641"/>
          </a:xfrm>
          <a:prstGeom prst="rect">
            <a:avLst/>
          </a:prstGeom>
          <a:noFill/>
          <a:ln/>
        </p:spPr>
        <p:txBody>
          <a:bodyPr wrap="square" lIns="0" tIns="0" rIns="0" bIns="0" rtlCol="0" anchor="t">
            <a:spAutoFit/>
          </a:bodyPr>
          <a:lstStyle/>
          <a:p>
            <a:pPr algn="l" indent="0" marL="0">
              <a:buNone/>
            </a:pPr>
            <a:r>
              <a:rPr lang="en-US" sz="3300" b="1" dirty="0">
                <a:solidFill>
                  <a:srgbClr val="FFFFFF"/>
                </a:solidFill>
                <a:latin typeface="Inter Black" pitchFamily="34" charset="0"/>
                <a:ea typeface="Inter Black" pitchFamily="34" charset="-122"/>
                <a:cs typeface="Inter Black" pitchFamily="34" charset="-120"/>
              </a:rPr>
              <a:t>The Silent Crisis in the Digital Age</a:t>
            </a:r>
            <a:endParaRPr lang="en-US" sz="3300" dirty="0"/>
          </a:p>
        </p:txBody>
      </p:sp>
      <p:sp>
        <p:nvSpPr>
          <p:cNvPr id="7" name="Text 3"/>
          <p:cNvSpPr/>
          <p:nvPr/>
        </p:nvSpPr>
        <p:spPr>
          <a:xfrm>
            <a:off x="807244" y="2071688"/>
            <a:ext cx="6429375" cy="276820"/>
          </a:xfrm>
          <a:prstGeom prst="rect">
            <a:avLst/>
          </a:prstGeom>
          <a:noFill/>
          <a:ln/>
        </p:spPr>
        <p:txBody>
          <a:bodyPr wrap="square" lIns="0" tIns="0" rIns="0" bIns="0" rtlCol="0" anchor="t">
            <a:spAutoFit/>
          </a:bodyPr>
          <a:lstStyle/>
          <a:p>
            <a:pPr algn="l" indent="0" marL="0">
              <a:buNone/>
            </a:pPr>
            <a:r>
              <a:rPr lang="en-US" sz="1600" b="1" dirty="0">
                <a:solidFill>
                  <a:srgbClr val="FFFFFF"/>
                </a:solidFill>
                <a:latin typeface="Inter Black" pitchFamily="34" charset="0"/>
                <a:ea typeface="Inter Black" pitchFamily="34" charset="-122"/>
                <a:cs typeface="Inter Black" pitchFamily="34" charset="-120"/>
              </a:rPr>
              <a:t>Rising Prevalence</a:t>
            </a:r>
            <a:endParaRPr lang="en-US" sz="1600" dirty="0"/>
          </a:p>
        </p:txBody>
      </p:sp>
      <p:sp>
        <p:nvSpPr>
          <p:cNvPr id="8" name="Text 4"/>
          <p:cNvSpPr/>
          <p:nvPr/>
        </p:nvSpPr>
        <p:spPr>
          <a:xfrm>
            <a:off x="807244" y="2405658"/>
            <a:ext cx="6429375" cy="457200"/>
          </a:xfrm>
          <a:prstGeom prst="rect">
            <a:avLst/>
          </a:prstGeom>
          <a:noFill/>
          <a:ln/>
        </p:spPr>
        <p:txBody>
          <a:bodyPr wrap="square" lIns="0" tIns="0" rIns="0" bIns="0" rtlCol="0" anchor="t">
            <a:spAutoFit/>
          </a:bodyPr>
          <a:lstStyle/>
          <a:p>
            <a:pPr algn="l" indent="0" marL="0">
              <a:lnSpc>
                <a:spcPct val="128000"/>
              </a:lnSpc>
              <a:buNone/>
            </a:pPr>
            <a:r>
              <a:rPr lang="en-US" sz="1050" dirty="0">
                <a:solidFill>
                  <a:srgbClr val="94A3B8"/>
                </a:solidFill>
                <a:latin typeface="Inter Light" pitchFamily="34" charset="0"/>
                <a:ea typeface="Inter Light" pitchFamily="34" charset="-122"/>
                <a:cs typeface="Inter Light" pitchFamily="34" charset="-120"/>
              </a:rPr>
              <a:t>Mental health issues are surging among digital natives, with a </a:t>
            </a:r>
            <a:r>
              <a:rPr lang="en-US" sz="1000" b="1" dirty="0">
                <a:solidFill>
                  <a:srgbClr val="22D3EE"/>
                </a:solidFill>
                <a:latin typeface="Inter Black" pitchFamily="34" charset="0"/>
                <a:ea typeface="Inter Black" pitchFamily="34" charset="-122"/>
                <a:cs typeface="Inter Black" pitchFamily="34" charset="-120"/>
              </a:rPr>
              <a:t>significant increase</a:t>
            </a:r>
            <a:r>
              <a:rPr lang="en-US" sz="1050" dirty="0">
                <a:solidFill>
                  <a:srgbClr val="94A3B8"/>
                </a:solidFill>
                <a:latin typeface="Inter Light" pitchFamily="34" charset="0"/>
                <a:ea typeface="Inter Light" pitchFamily="34" charset="-122"/>
                <a:cs typeface="Inter Light" pitchFamily="34" charset="-120"/>
              </a:rPr>
              <a:t> in reported </a:t>
            </a:r>
            <a:r>
              <a:rPr lang="en-US" sz="1050" dirty="0">
                <a:solidFill>
                  <a:srgbClr val="94A3B8"/>
                </a:solidFill>
                <a:latin typeface="Inter Light" pitchFamily="34" charset="0"/>
                <a:ea typeface="Inter Light" pitchFamily="34" charset="-122"/>
                <a:cs typeface="Inter Light" pitchFamily="34" charset="-120"/>
              </a:rPr>
              <a:t>depression cases linked to hyper-connectivity.</a:t>
            </a:r>
            <a:endParaRPr lang="en-US" sz="1050" dirty="0"/>
          </a:p>
        </p:txBody>
      </p:sp>
      <p:sp>
        <p:nvSpPr>
          <p:cNvPr id="9" name="Text 5"/>
          <p:cNvSpPr/>
          <p:nvPr/>
        </p:nvSpPr>
        <p:spPr>
          <a:xfrm>
            <a:off x="807244" y="3143250"/>
            <a:ext cx="6429375" cy="276820"/>
          </a:xfrm>
          <a:prstGeom prst="rect">
            <a:avLst/>
          </a:prstGeom>
          <a:noFill/>
          <a:ln/>
        </p:spPr>
        <p:txBody>
          <a:bodyPr wrap="square" lIns="0" tIns="0" rIns="0" bIns="0" rtlCol="0" anchor="t">
            <a:spAutoFit/>
          </a:bodyPr>
          <a:lstStyle/>
          <a:p>
            <a:pPr algn="l" indent="0" marL="0">
              <a:buNone/>
            </a:pPr>
            <a:r>
              <a:rPr lang="en-US" sz="1600" b="1" dirty="0">
                <a:solidFill>
                  <a:srgbClr val="FFFFFF"/>
                </a:solidFill>
                <a:latin typeface="Inter Black" pitchFamily="34" charset="0"/>
                <a:ea typeface="Inter Black" pitchFamily="34" charset="-122"/>
                <a:cs typeface="Inter Black" pitchFamily="34" charset="-120"/>
              </a:rPr>
              <a:t>The Diagnostic Gap</a:t>
            </a:r>
            <a:endParaRPr lang="en-US" sz="1600" dirty="0"/>
          </a:p>
        </p:txBody>
      </p:sp>
      <p:sp>
        <p:nvSpPr>
          <p:cNvPr id="10" name="Text 6"/>
          <p:cNvSpPr/>
          <p:nvPr/>
        </p:nvSpPr>
        <p:spPr>
          <a:xfrm>
            <a:off x="807244" y="3477220"/>
            <a:ext cx="6429375" cy="457200"/>
          </a:xfrm>
          <a:prstGeom prst="rect">
            <a:avLst/>
          </a:prstGeom>
          <a:noFill/>
          <a:ln/>
        </p:spPr>
        <p:txBody>
          <a:bodyPr wrap="square" lIns="0" tIns="0" rIns="0" bIns="0" rtlCol="0" anchor="t">
            <a:spAutoFit/>
          </a:bodyPr>
          <a:lstStyle/>
          <a:p>
            <a:pPr algn="l" indent="0" marL="0">
              <a:lnSpc>
                <a:spcPct val="128000"/>
              </a:lnSpc>
              <a:buNone/>
            </a:pPr>
            <a:r>
              <a:rPr lang="en-US" sz="1050" dirty="0">
                <a:solidFill>
                  <a:srgbClr val="94A3B8"/>
                </a:solidFill>
                <a:latin typeface="Inter Light" pitchFamily="34" charset="0"/>
                <a:ea typeface="Inter Light" pitchFamily="34" charset="-122"/>
                <a:cs typeface="Inter Light" pitchFamily="34" charset="-120"/>
              </a:rPr>
              <a:t>Traditional diagnosis is reactive, often occurring only after symptoms become severe. There is a </a:t>
            </a:r>
            <a:r>
              <a:rPr lang="en-US" sz="1050" dirty="0">
                <a:solidFill>
                  <a:srgbClr val="94A3B8"/>
                </a:solidFill>
                <a:latin typeface="Inter Light" pitchFamily="34" charset="0"/>
                <a:ea typeface="Inter Light" pitchFamily="34" charset="-122"/>
                <a:cs typeface="Inter Light" pitchFamily="34" charset="-120"/>
              </a:rPr>
              <a:t>critical need for </a:t>
            </a:r>
            <a:r>
              <a:rPr lang="en-US" sz="1000" b="1" dirty="0">
                <a:solidFill>
                  <a:srgbClr val="22D3EE"/>
                </a:solidFill>
                <a:latin typeface="Inter Black" pitchFamily="34" charset="0"/>
                <a:ea typeface="Inter Black" pitchFamily="34" charset="-122"/>
                <a:cs typeface="Inter Black" pitchFamily="34" charset="-120"/>
              </a:rPr>
              <a:t>proactive, early-stage detection</a:t>
            </a:r>
            <a:r>
              <a:rPr lang="en-US" sz="1050" dirty="0">
                <a:solidFill>
                  <a:srgbClr val="94A3B8"/>
                </a:solidFill>
                <a:latin typeface="Inter Light" pitchFamily="34" charset="0"/>
                <a:ea typeface="Inter Light" pitchFamily="34" charset="-122"/>
                <a:cs typeface="Inter Light" pitchFamily="34" charset="-120"/>
              </a:rPr>
              <a:t>.</a:t>
            </a:r>
            <a:endParaRPr lang="en-US" sz="1050" dirty="0"/>
          </a:p>
        </p:txBody>
      </p:sp>
      <p:sp>
        <p:nvSpPr>
          <p:cNvPr id="11" name="Text 7"/>
          <p:cNvSpPr/>
          <p:nvPr/>
        </p:nvSpPr>
        <p:spPr>
          <a:xfrm>
            <a:off x="807244" y="4214813"/>
            <a:ext cx="6429375" cy="276820"/>
          </a:xfrm>
          <a:prstGeom prst="rect">
            <a:avLst/>
          </a:prstGeom>
          <a:noFill/>
          <a:ln/>
        </p:spPr>
        <p:txBody>
          <a:bodyPr wrap="square" lIns="0" tIns="0" rIns="0" bIns="0" rtlCol="0" anchor="t">
            <a:spAutoFit/>
          </a:bodyPr>
          <a:lstStyle/>
          <a:p>
            <a:pPr algn="l" indent="0" marL="0">
              <a:buNone/>
            </a:pPr>
            <a:r>
              <a:rPr lang="en-US" sz="1600" b="1" dirty="0">
                <a:solidFill>
                  <a:srgbClr val="FFFFFF"/>
                </a:solidFill>
                <a:latin typeface="Inter Black" pitchFamily="34" charset="0"/>
                <a:ea typeface="Inter Black" pitchFamily="34" charset="-122"/>
                <a:cs typeface="Inter Black" pitchFamily="34" charset="-120"/>
              </a:rPr>
              <a:t>The Digital Opportunity</a:t>
            </a:r>
            <a:endParaRPr lang="en-US" sz="1600" dirty="0"/>
          </a:p>
        </p:txBody>
      </p:sp>
      <p:sp>
        <p:nvSpPr>
          <p:cNvPr id="12" name="Text 8"/>
          <p:cNvSpPr/>
          <p:nvPr/>
        </p:nvSpPr>
        <p:spPr>
          <a:xfrm>
            <a:off x="807244" y="4548783"/>
            <a:ext cx="6429375" cy="457200"/>
          </a:xfrm>
          <a:prstGeom prst="rect">
            <a:avLst/>
          </a:prstGeom>
          <a:noFill/>
          <a:ln/>
        </p:spPr>
        <p:txBody>
          <a:bodyPr wrap="square" lIns="0" tIns="0" rIns="0" bIns="0" rtlCol="0" anchor="t">
            <a:spAutoFit/>
          </a:bodyPr>
          <a:lstStyle/>
          <a:p>
            <a:pPr algn="l" indent="0" marL="0">
              <a:lnSpc>
                <a:spcPct val="128000"/>
              </a:lnSpc>
              <a:buNone/>
            </a:pPr>
            <a:r>
              <a:rPr lang="en-US" sz="1050" dirty="0">
                <a:solidFill>
                  <a:srgbClr val="94A3B8"/>
                </a:solidFill>
                <a:latin typeface="Inter Light" pitchFamily="34" charset="0"/>
                <a:ea typeface="Inter Light" pitchFamily="34" charset="-122"/>
                <a:cs typeface="Inter Light" pitchFamily="34" charset="-120"/>
              </a:rPr>
              <a:t>Everyday digital habits—screen time, social media patterns, and sleep cycles—leave </a:t>
            </a:r>
            <a:r>
              <a:rPr lang="en-US" sz="1000" b="1" dirty="0">
                <a:solidFill>
                  <a:srgbClr val="22D3EE"/>
                </a:solidFill>
                <a:latin typeface="Inter Black" pitchFamily="34" charset="0"/>
                <a:ea typeface="Inter Black" pitchFamily="34" charset="-122"/>
                <a:cs typeface="Inter Black" pitchFamily="34" charset="-120"/>
              </a:rPr>
              <a:t>"digital </a:t>
            </a:r>
            <a:r>
              <a:rPr lang="en-US" sz="1000" b="1" dirty="0">
                <a:solidFill>
                  <a:srgbClr val="22D3EE"/>
                </a:solidFill>
                <a:latin typeface="Inter Black" pitchFamily="34" charset="0"/>
                <a:ea typeface="Inter Black" pitchFamily="34" charset="-122"/>
                <a:cs typeface="Inter Black" pitchFamily="34" charset="-120"/>
              </a:rPr>
              <a:t>biomarkers"</a:t>
            </a:r>
            <a:r>
              <a:rPr lang="en-US" sz="1050" dirty="0">
                <a:solidFill>
                  <a:srgbClr val="94A3B8"/>
                </a:solidFill>
                <a:latin typeface="Inter Light" pitchFamily="34" charset="0"/>
                <a:ea typeface="Inter Light" pitchFamily="34" charset="-122"/>
                <a:cs typeface="Inter Light" pitchFamily="34" charset="-120"/>
              </a:rPr>
              <a:t> that AI can decode to predict risk.</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9144000" cy="1107281"/>
          </a:xfrm>
          <a:prstGeom prst="rect">
            <a:avLst/>
          </a:prstGeom>
          <a:noFill/>
          <a:ln/>
        </p:spPr>
        <p:txBody>
          <a:bodyPr wrap="square" lIns="0" tIns="0" rIns="0" bIns="0" rtlCol="0" anchor="t">
            <a:spAutoFit/>
          </a:bodyPr>
          <a:lstStyle/>
          <a:p>
            <a:pPr algn="l" indent="0" marL="0">
              <a:buNone/>
            </a:pPr>
            <a:r>
              <a:rPr lang="en-US" sz="3300" b="1" dirty="0">
                <a:solidFill>
                  <a:srgbClr val="FFFFFF"/>
                </a:solidFill>
                <a:latin typeface="Inter Black" pitchFamily="34" charset="0"/>
                <a:ea typeface="Inter Black" pitchFamily="34" charset="-122"/>
                <a:cs typeface="Inter Black" pitchFamily="34" charset="-120"/>
              </a:rPr>
              <a:t>Proactive Intervention via Predictive Analytics</a:t>
            </a:r>
            <a:endParaRPr lang="en-US" sz="3300" dirty="0"/>
          </a:p>
        </p:txBody>
      </p:sp>
      <p:sp>
        <p:nvSpPr>
          <p:cNvPr id="5" name="Text 1"/>
          <p:cNvSpPr/>
          <p:nvPr/>
        </p:nvSpPr>
        <p:spPr>
          <a:xfrm>
            <a:off x="571500" y="1964531"/>
            <a:ext cx="400050" cy="414338"/>
          </a:xfrm>
          <a:prstGeom prst="rect">
            <a:avLst/>
          </a:prstGeom>
          <a:noFill/>
          <a:ln/>
        </p:spPr>
        <p:txBody>
          <a:bodyPr wrap="none" lIns="0" tIns="0" rIns="0" bIns="0" rtlCol="0" anchor="t">
            <a:spAutoFit/>
          </a:bodyPr>
          <a:lstStyle/>
          <a:p>
            <a:pPr algn="l" indent="0" marL="0">
              <a:buNone/>
            </a:pPr>
            <a:r>
              <a:rPr lang="en-US" sz="2450" b="1" dirty="0">
                <a:solidFill>
                  <a:srgbClr val="22D3EE">
                    <a:alpha val="10000"/>
                  </a:srgbClr>
                </a:solidFill>
                <a:latin typeface="Inter Black" pitchFamily="34" charset="0"/>
                <a:ea typeface="Inter Black" pitchFamily="34" charset="-122"/>
                <a:cs typeface="Inter Black" pitchFamily="34" charset="-120"/>
              </a:rPr>
              <a:t>01</a:t>
            </a:r>
            <a:endParaRPr lang="en-US" sz="2450" dirty="0"/>
          </a:p>
        </p:txBody>
      </p:sp>
      <p:sp>
        <p:nvSpPr>
          <p:cNvPr id="6" name="Text 2"/>
          <p:cNvSpPr/>
          <p:nvPr/>
        </p:nvSpPr>
        <p:spPr>
          <a:xfrm>
            <a:off x="571500" y="2450306"/>
            <a:ext cx="1289447" cy="242888"/>
          </a:xfrm>
          <a:prstGeom prst="rect">
            <a:avLst/>
          </a:prstGeom>
          <a:noFill/>
          <a:ln/>
        </p:spPr>
        <p:txBody>
          <a:bodyPr wrap="square" lIns="0" tIns="0" rIns="0" bIns="0" rtlCol="0" anchor="t">
            <a:spAutoFit/>
          </a:bodyPr>
          <a:lstStyle/>
          <a:p>
            <a:pPr algn="l" indent="0" marL="0">
              <a:buNone/>
            </a:pPr>
            <a:r>
              <a:rPr lang="en-US" sz="1400" b="1" spc="2" kern="0" dirty="0">
                <a:solidFill>
                  <a:srgbClr val="22D3EE"/>
                </a:solidFill>
                <a:latin typeface="Inter Black" pitchFamily="34" charset="0"/>
                <a:ea typeface="Inter Black" pitchFamily="34" charset="-122"/>
                <a:cs typeface="Inter Black" pitchFamily="34" charset="-120"/>
              </a:rPr>
              <a:t>OBJECTIVE</a:t>
            </a:r>
            <a:endParaRPr lang="en-US" sz="1400" dirty="0"/>
          </a:p>
        </p:txBody>
      </p:sp>
      <p:sp>
        <p:nvSpPr>
          <p:cNvPr id="7" name="Text 3"/>
          <p:cNvSpPr/>
          <p:nvPr/>
        </p:nvSpPr>
        <p:spPr>
          <a:xfrm>
            <a:off x="571500" y="2800350"/>
            <a:ext cx="2286000" cy="822871"/>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94A3B8"/>
                </a:solidFill>
                <a:latin typeface="Inter Light" pitchFamily="34" charset="0"/>
                <a:ea typeface="Inter Light" pitchFamily="34" charset="-122"/>
                <a:cs typeface="Inter Light" pitchFamily="34" charset="-120"/>
              </a:rPr>
              <a:t>Develop a high-precision ML framework to predict depression risk by analyzing multi-dimensional lifestyle data.</a:t>
            </a:r>
            <a:endParaRPr lang="en-US" sz="950" dirty="0"/>
          </a:p>
        </p:txBody>
      </p:sp>
      <p:sp>
        <p:nvSpPr>
          <p:cNvPr id="8" name="Text 4"/>
          <p:cNvSpPr/>
          <p:nvPr/>
        </p:nvSpPr>
        <p:spPr>
          <a:xfrm>
            <a:off x="3429000" y="1964531"/>
            <a:ext cx="466130" cy="414338"/>
          </a:xfrm>
          <a:prstGeom prst="rect">
            <a:avLst/>
          </a:prstGeom>
          <a:noFill/>
          <a:ln/>
        </p:spPr>
        <p:txBody>
          <a:bodyPr wrap="none" lIns="0" tIns="0" rIns="0" bIns="0" rtlCol="0" anchor="t">
            <a:spAutoFit/>
          </a:bodyPr>
          <a:lstStyle/>
          <a:p>
            <a:pPr algn="l" indent="0" marL="0">
              <a:buNone/>
            </a:pPr>
            <a:r>
              <a:rPr lang="en-US" sz="2450" b="1" dirty="0">
                <a:solidFill>
                  <a:srgbClr val="22D3EE">
                    <a:alpha val="10000"/>
                  </a:srgbClr>
                </a:solidFill>
                <a:latin typeface="Inter Black" pitchFamily="34" charset="0"/>
                <a:ea typeface="Inter Black" pitchFamily="34" charset="-122"/>
                <a:cs typeface="Inter Black" pitchFamily="34" charset="-120"/>
              </a:rPr>
              <a:t>02</a:t>
            </a:r>
            <a:endParaRPr lang="en-US" sz="2450" dirty="0"/>
          </a:p>
        </p:txBody>
      </p:sp>
      <p:sp>
        <p:nvSpPr>
          <p:cNvPr id="9" name="Text 5"/>
          <p:cNvSpPr/>
          <p:nvPr/>
        </p:nvSpPr>
        <p:spPr>
          <a:xfrm>
            <a:off x="3429000" y="2450306"/>
            <a:ext cx="1777008" cy="242888"/>
          </a:xfrm>
          <a:prstGeom prst="rect">
            <a:avLst/>
          </a:prstGeom>
          <a:noFill/>
          <a:ln/>
        </p:spPr>
        <p:txBody>
          <a:bodyPr wrap="square" lIns="0" tIns="0" rIns="0" bIns="0" rtlCol="0" anchor="t">
            <a:spAutoFit/>
          </a:bodyPr>
          <a:lstStyle/>
          <a:p>
            <a:pPr algn="l" indent="0" marL="0">
              <a:buNone/>
            </a:pPr>
            <a:r>
              <a:rPr lang="en-US" sz="1400" b="1" spc="2" kern="0" dirty="0">
                <a:solidFill>
                  <a:srgbClr val="22D3EE"/>
                </a:solidFill>
                <a:latin typeface="Inter Black" pitchFamily="34" charset="0"/>
                <a:ea typeface="Inter Black" pitchFamily="34" charset="-122"/>
                <a:cs typeface="Inter Black" pitchFamily="34" charset="-120"/>
              </a:rPr>
              <a:t>METHODOLOGY</a:t>
            </a:r>
            <a:endParaRPr lang="en-US" sz="1400" dirty="0"/>
          </a:p>
        </p:txBody>
      </p:sp>
      <p:sp>
        <p:nvSpPr>
          <p:cNvPr id="10" name="Text 6"/>
          <p:cNvSpPr/>
          <p:nvPr/>
        </p:nvSpPr>
        <p:spPr>
          <a:xfrm>
            <a:off x="3429000" y="2800350"/>
            <a:ext cx="2286000" cy="617153"/>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94A3B8"/>
                </a:solidFill>
                <a:latin typeface="Inter Light" pitchFamily="34" charset="0"/>
                <a:ea typeface="Inter Light" pitchFamily="34" charset="-122"/>
                <a:cs typeface="Inter Light" pitchFamily="34" charset="-120"/>
              </a:rPr>
              <a:t>Integration of sleep metrics, social media usage, and physical activity into a unified predictive engine.</a:t>
            </a:r>
            <a:endParaRPr lang="en-US" sz="950" dirty="0"/>
          </a:p>
        </p:txBody>
      </p:sp>
      <p:sp>
        <p:nvSpPr>
          <p:cNvPr id="11" name="Text 7"/>
          <p:cNvSpPr/>
          <p:nvPr/>
        </p:nvSpPr>
        <p:spPr>
          <a:xfrm>
            <a:off x="6286500" y="1964531"/>
            <a:ext cx="473273" cy="414338"/>
          </a:xfrm>
          <a:prstGeom prst="rect">
            <a:avLst/>
          </a:prstGeom>
          <a:noFill/>
          <a:ln/>
        </p:spPr>
        <p:txBody>
          <a:bodyPr wrap="none" lIns="0" tIns="0" rIns="0" bIns="0" rtlCol="0" anchor="t">
            <a:spAutoFit/>
          </a:bodyPr>
          <a:lstStyle/>
          <a:p>
            <a:pPr algn="l" indent="0" marL="0">
              <a:buNone/>
            </a:pPr>
            <a:r>
              <a:rPr lang="en-US" sz="2450" b="1" dirty="0">
                <a:solidFill>
                  <a:srgbClr val="22D3EE">
                    <a:alpha val="10000"/>
                  </a:srgbClr>
                </a:solidFill>
                <a:latin typeface="Inter Black" pitchFamily="34" charset="0"/>
                <a:ea typeface="Inter Black" pitchFamily="34" charset="-122"/>
                <a:cs typeface="Inter Black" pitchFamily="34" charset="-120"/>
              </a:rPr>
              <a:t>03</a:t>
            </a:r>
            <a:endParaRPr lang="en-US" sz="2450" dirty="0"/>
          </a:p>
        </p:txBody>
      </p:sp>
      <p:sp>
        <p:nvSpPr>
          <p:cNvPr id="12" name="Text 8"/>
          <p:cNvSpPr/>
          <p:nvPr/>
        </p:nvSpPr>
        <p:spPr>
          <a:xfrm>
            <a:off x="6286500" y="2450306"/>
            <a:ext cx="887611" cy="242888"/>
          </a:xfrm>
          <a:prstGeom prst="rect">
            <a:avLst/>
          </a:prstGeom>
          <a:noFill/>
          <a:ln/>
        </p:spPr>
        <p:txBody>
          <a:bodyPr wrap="none" lIns="0" tIns="0" rIns="0" bIns="0" rtlCol="0" anchor="t">
            <a:spAutoFit/>
          </a:bodyPr>
          <a:lstStyle/>
          <a:p>
            <a:pPr algn="l" indent="0" marL="0">
              <a:buNone/>
            </a:pPr>
            <a:r>
              <a:rPr lang="en-US" sz="1400" b="1" spc="2" kern="0" dirty="0">
                <a:solidFill>
                  <a:srgbClr val="22D3EE"/>
                </a:solidFill>
                <a:latin typeface="Inter Black" pitchFamily="34" charset="0"/>
                <a:ea typeface="Inter Black" pitchFamily="34" charset="-122"/>
                <a:cs typeface="Inter Black" pitchFamily="34" charset="-120"/>
              </a:rPr>
              <a:t>IMPACT</a:t>
            </a:r>
            <a:endParaRPr lang="en-US" sz="1400" dirty="0"/>
          </a:p>
        </p:txBody>
      </p:sp>
      <p:sp>
        <p:nvSpPr>
          <p:cNvPr id="13" name="Text 9"/>
          <p:cNvSpPr/>
          <p:nvPr/>
        </p:nvSpPr>
        <p:spPr>
          <a:xfrm>
            <a:off x="6286500" y="2800350"/>
            <a:ext cx="2286000" cy="617153"/>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94A3B8"/>
                </a:solidFill>
                <a:latin typeface="Inter Light" pitchFamily="34" charset="0"/>
                <a:ea typeface="Inter Light" pitchFamily="34" charset="-122"/>
                <a:cs typeface="Inter Light" pitchFamily="34" charset="-120"/>
              </a:rPr>
              <a:t>Enabling personalized wellness recommendations and early clinical alerts for at-risk individuals.</a:t>
            </a:r>
            <a:endParaRPr lang="en-US" sz="950" dirty="0"/>
          </a:p>
        </p:txBody>
      </p:sp>
      <p:sp>
        <p:nvSpPr>
          <p:cNvPr id="14" name="Shape 10"/>
          <p:cNvSpPr/>
          <p:nvPr/>
        </p:nvSpPr>
        <p:spPr>
          <a:xfrm>
            <a:off x="0" y="3908971"/>
            <a:ext cx="9144000" cy="28575"/>
          </a:xfrm>
          <a:prstGeom prst="rect">
            <a:avLst/>
          </a:prstGeom>
          <a:solidFill>
            <a:srgbClr val="94A3B8">
              <a:alpha val="10000"/>
            </a:srgbClr>
          </a:solidFill>
          <a:ln/>
        </p:spPr>
      </p:sp>
      <p:sp>
        <p:nvSpPr>
          <p:cNvPr id="15" name="Shape 11"/>
          <p:cNvSpPr/>
          <p:nvPr/>
        </p:nvSpPr>
        <p:spPr>
          <a:xfrm>
            <a:off x="0" y="3908971"/>
            <a:ext cx="3017481" cy="28575"/>
          </a:xfrm>
          <a:prstGeom prst="rect">
            <a:avLst/>
          </a:prstGeom>
          <a:solidFill>
            <a:srgbClr val="22D3EE"/>
          </a:solidFill>
          <a:ln/>
        </p:spPr>
      </p:sp>
      <p:sp>
        <p:nvSpPr>
          <p:cNvPr id="16" name="Text 12"/>
          <p:cNvSpPr/>
          <p:nvPr/>
        </p:nvSpPr>
        <p:spPr>
          <a:xfrm>
            <a:off x="571500" y="4366171"/>
            <a:ext cx="8572500" cy="207169"/>
          </a:xfrm>
          <a:prstGeom prst="rect">
            <a:avLst/>
          </a:prstGeom>
          <a:noFill/>
          <a:ln/>
        </p:spPr>
        <p:txBody>
          <a:bodyPr wrap="square" lIns="0" tIns="0" rIns="0" bIns="0" rtlCol="0" anchor="t">
            <a:spAutoFit/>
          </a:bodyPr>
          <a:lstStyle/>
          <a:p>
            <a:pPr algn="l" indent="0" marL="0">
              <a:buNone/>
            </a:pPr>
            <a:r>
              <a:rPr lang="en-US" sz="1200" b="1" dirty="0">
                <a:solidFill>
                  <a:srgbClr val="FFFFFF"/>
                </a:solidFill>
                <a:latin typeface="Inter Black" pitchFamily="34" charset="0"/>
                <a:ea typeface="Inter Black" pitchFamily="34" charset="-122"/>
                <a:cs typeface="Inter Black" pitchFamily="34" charset="-120"/>
              </a:rPr>
              <a:t>Key Outcomes</a:t>
            </a:r>
            <a:endParaRPr lang="en-US" sz="1200" dirty="0"/>
          </a:p>
        </p:txBody>
      </p:sp>
      <p:pic>
        <p:nvPicPr>
          <p:cNvPr id="17" name="Image 1" descr="preencoded.png">    </p:cNvPr>
          <p:cNvPicPr>
            <a:picLocks noChangeAspect="1"/>
          </p:cNvPicPr>
          <p:nvPr/>
        </p:nvPicPr>
        <p:blipFill>
          <a:blip r:embed="rId2"/>
          <a:stretch>
            <a:fillRect/>
          </a:stretch>
        </p:blipFill>
        <p:spPr>
          <a:xfrm>
            <a:off x="571500" y="4658171"/>
            <a:ext cx="128588" cy="128588"/>
          </a:xfrm>
          <a:prstGeom prst="rect">
            <a:avLst/>
          </a:prstGeom>
        </p:spPr>
      </p:pic>
      <p:sp>
        <p:nvSpPr>
          <p:cNvPr id="18" name="Text 13"/>
          <p:cNvSpPr/>
          <p:nvPr/>
        </p:nvSpPr>
        <p:spPr>
          <a:xfrm>
            <a:off x="771525" y="4644777"/>
            <a:ext cx="903684" cy="155377"/>
          </a:xfrm>
          <a:prstGeom prst="rect">
            <a:avLst/>
          </a:prstGeom>
          <a:noFill/>
          <a:ln/>
        </p:spPr>
        <p:txBody>
          <a:bodyPr wrap="none" lIns="0" tIns="0" rIns="0" bIns="0" rtlCol="0" anchor="t">
            <a:spAutoFit/>
          </a:bodyPr>
          <a:lstStyle/>
          <a:p>
            <a:pPr algn="l" indent="0" marL="0">
              <a:buNone/>
            </a:pPr>
            <a:r>
              <a:rPr lang="en-US" sz="950" dirty="0">
                <a:solidFill>
                  <a:srgbClr val="818CF8"/>
                </a:solidFill>
                <a:latin typeface="Inter Light" pitchFamily="34" charset="0"/>
                <a:ea typeface="Inter Light" pitchFamily="34" charset="-122"/>
                <a:cs typeface="Inter Light" pitchFamily="34" charset="-120"/>
              </a:rPr>
              <a:t>Early Detection</a:t>
            </a:r>
            <a:endParaRPr lang="en-US" sz="950" dirty="0"/>
          </a:p>
        </p:txBody>
      </p:sp>
      <p:pic>
        <p:nvPicPr>
          <p:cNvPr id="19" name="Image 2" descr="preencoded.png">    </p:cNvPr>
          <p:cNvPicPr>
            <a:picLocks noChangeAspect="1"/>
          </p:cNvPicPr>
          <p:nvPr/>
        </p:nvPicPr>
        <p:blipFill>
          <a:blip r:embed="rId3"/>
          <a:stretch>
            <a:fillRect/>
          </a:stretch>
        </p:blipFill>
        <p:spPr>
          <a:xfrm>
            <a:off x="1960959" y="4658171"/>
            <a:ext cx="128588" cy="128588"/>
          </a:xfrm>
          <a:prstGeom prst="rect">
            <a:avLst/>
          </a:prstGeom>
        </p:spPr>
      </p:pic>
      <p:sp>
        <p:nvSpPr>
          <p:cNvPr id="20" name="Text 14"/>
          <p:cNvSpPr/>
          <p:nvPr/>
        </p:nvSpPr>
        <p:spPr>
          <a:xfrm>
            <a:off x="2160984" y="4644777"/>
            <a:ext cx="1216223" cy="155377"/>
          </a:xfrm>
          <a:prstGeom prst="rect">
            <a:avLst/>
          </a:prstGeom>
          <a:noFill/>
          <a:ln/>
        </p:spPr>
        <p:txBody>
          <a:bodyPr wrap="none" lIns="0" tIns="0" rIns="0" bIns="0" rtlCol="0" anchor="t">
            <a:spAutoFit/>
          </a:bodyPr>
          <a:lstStyle/>
          <a:p>
            <a:pPr algn="l" indent="0" marL="0">
              <a:buNone/>
            </a:pPr>
            <a:r>
              <a:rPr lang="en-US" sz="950" dirty="0">
                <a:solidFill>
                  <a:srgbClr val="818CF8"/>
                </a:solidFill>
                <a:latin typeface="Inter Light" pitchFamily="34" charset="0"/>
                <a:ea typeface="Inter Light" pitchFamily="34" charset="-122"/>
                <a:cs typeface="Inter Light" pitchFamily="34" charset="-120"/>
              </a:rPr>
              <a:t>Data-Driven Insights</a:t>
            </a:r>
            <a:endParaRPr lang="en-US" sz="950" dirty="0"/>
          </a:p>
        </p:txBody>
      </p:sp>
      <p:pic>
        <p:nvPicPr>
          <p:cNvPr id="21" name="Image 3" descr="preencoded.png">    </p:cNvPr>
          <p:cNvPicPr>
            <a:picLocks noChangeAspect="1"/>
          </p:cNvPicPr>
          <p:nvPr/>
        </p:nvPicPr>
        <p:blipFill>
          <a:blip r:embed="rId4"/>
          <a:stretch>
            <a:fillRect/>
          </a:stretch>
        </p:blipFill>
        <p:spPr>
          <a:xfrm>
            <a:off x="3662958" y="4658171"/>
            <a:ext cx="128588" cy="128588"/>
          </a:xfrm>
          <a:prstGeom prst="rect">
            <a:avLst/>
          </a:prstGeom>
        </p:spPr>
      </p:pic>
      <p:sp>
        <p:nvSpPr>
          <p:cNvPr id="22" name="Text 15"/>
          <p:cNvSpPr/>
          <p:nvPr/>
        </p:nvSpPr>
        <p:spPr>
          <a:xfrm>
            <a:off x="3862983" y="4644777"/>
            <a:ext cx="1268016" cy="155377"/>
          </a:xfrm>
          <a:prstGeom prst="rect">
            <a:avLst/>
          </a:prstGeom>
          <a:noFill/>
          <a:ln/>
        </p:spPr>
        <p:txBody>
          <a:bodyPr wrap="none" lIns="0" tIns="0" rIns="0" bIns="0" rtlCol="0" anchor="t">
            <a:spAutoFit/>
          </a:bodyPr>
          <a:lstStyle/>
          <a:p>
            <a:pPr algn="l" indent="0" marL="0">
              <a:buNone/>
            </a:pPr>
            <a:r>
              <a:rPr lang="en-US" sz="950" dirty="0">
                <a:solidFill>
                  <a:srgbClr val="818CF8"/>
                </a:solidFill>
                <a:latin typeface="Inter Light" pitchFamily="34" charset="0"/>
                <a:ea typeface="Inter Light" pitchFamily="34" charset="-122"/>
                <a:cs typeface="Inter Light" pitchFamily="34" charset="-120"/>
              </a:rPr>
              <a:t>Scalable Architecture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9144000" cy="483989"/>
          </a:xfrm>
          <a:prstGeom prst="rect">
            <a:avLst/>
          </a:prstGeom>
          <a:noFill/>
          <a:ln/>
        </p:spPr>
        <p:txBody>
          <a:bodyPr wrap="square" lIns="0" tIns="0" rIns="0" bIns="0" rtlCol="0" anchor="t">
            <a:spAutoFit/>
          </a:bodyPr>
          <a:lstStyle/>
          <a:p>
            <a:pPr algn="l" indent="0" marL="0">
              <a:buNone/>
            </a:pPr>
            <a:r>
              <a:rPr lang="en-US" sz="2850" b="1" dirty="0">
                <a:solidFill>
                  <a:srgbClr val="FFFFFF"/>
                </a:solidFill>
                <a:latin typeface="Inter Black" pitchFamily="34" charset="0"/>
                <a:ea typeface="Inter Black" pitchFamily="34" charset="-122"/>
                <a:cs typeface="Inter Black" pitchFamily="34" charset="-120"/>
              </a:rPr>
              <a:t>Quantifying the Human Experience</a:t>
            </a:r>
            <a:endParaRPr lang="en-US" sz="2850" dirty="0"/>
          </a:p>
        </p:txBody>
      </p:sp>
      <p:sp>
        <p:nvSpPr>
          <p:cNvPr id="5" name="Text 1"/>
          <p:cNvSpPr/>
          <p:nvPr/>
        </p:nvSpPr>
        <p:spPr>
          <a:xfrm>
            <a:off x="771525" y="1714500"/>
            <a:ext cx="1609130" cy="207169"/>
          </a:xfrm>
          <a:prstGeom prst="rect">
            <a:avLst/>
          </a:prstGeom>
          <a:noFill/>
          <a:ln/>
        </p:spPr>
        <p:txBody>
          <a:bodyPr wrap="square" lIns="0" tIns="0" rIns="0" bIns="0" rtlCol="0" anchor="t">
            <a:spAutoFit/>
          </a:bodyPr>
          <a:lstStyle/>
          <a:p>
            <a:pPr algn="l" indent="0" marL="0">
              <a:buNone/>
            </a:pPr>
            <a:r>
              <a:rPr lang="en-US" sz="1200" b="1" spc="2" kern="0" dirty="0">
                <a:solidFill>
                  <a:srgbClr val="FFFFFF"/>
                </a:solidFill>
                <a:latin typeface="Inter Black" pitchFamily="34" charset="0"/>
                <a:ea typeface="Inter Black" pitchFamily="34" charset="-122"/>
                <a:cs typeface="Inter Black" pitchFamily="34" charset="-120"/>
              </a:rPr>
              <a:t>DEMOGRAPHICS</a:t>
            </a:r>
            <a:endParaRPr lang="en-US" sz="1200" dirty="0"/>
          </a:p>
        </p:txBody>
      </p:sp>
      <p:sp>
        <p:nvSpPr>
          <p:cNvPr id="6" name="Text 2"/>
          <p:cNvSpPr/>
          <p:nvPr/>
        </p:nvSpPr>
        <p:spPr>
          <a:xfrm>
            <a:off x="771525" y="2028825"/>
            <a:ext cx="1609130" cy="231446"/>
          </a:xfrm>
          <a:prstGeom prst="rect">
            <a:avLst/>
          </a:prstGeom>
          <a:noFill/>
          <a:ln/>
        </p:spPr>
        <p:txBody>
          <a:bodyPr wrap="none" lIns="0" tIns="0" rIns="0" bIns="0" rtlCol="0" anchor="t">
            <a:spAutoFit/>
          </a:bodyPr>
          <a:lstStyle/>
          <a:p>
            <a:pPr algn="l" indent="0" marL="0">
              <a:lnSpc>
                <a:spcPct val="144000"/>
              </a:lnSpc>
              <a:buNone/>
            </a:pPr>
            <a:r>
              <a:rPr lang="en-US" sz="950" dirty="0">
                <a:solidFill>
                  <a:srgbClr val="94A3B8"/>
                </a:solidFill>
                <a:latin typeface="Inter Light" pitchFamily="34" charset="0"/>
                <a:ea typeface="Inter Light" pitchFamily="34" charset="-122"/>
                <a:cs typeface="Inter Light" pitchFamily="34" charset="-120"/>
              </a:rPr>
              <a:t>Age Distribution</a:t>
            </a:r>
            <a:endParaRPr lang="en-US" sz="950" dirty="0"/>
          </a:p>
        </p:txBody>
      </p:sp>
      <p:sp>
        <p:nvSpPr>
          <p:cNvPr id="7" name="Text 3"/>
          <p:cNvSpPr/>
          <p:nvPr/>
        </p:nvSpPr>
        <p:spPr>
          <a:xfrm>
            <a:off x="771525" y="2260271"/>
            <a:ext cx="1609130" cy="231446"/>
          </a:xfrm>
          <a:prstGeom prst="rect">
            <a:avLst/>
          </a:prstGeom>
          <a:noFill/>
          <a:ln/>
        </p:spPr>
        <p:txBody>
          <a:bodyPr wrap="none" lIns="0" tIns="0" rIns="0" bIns="0" rtlCol="0" anchor="t">
            <a:spAutoFit/>
          </a:bodyPr>
          <a:lstStyle/>
          <a:p>
            <a:pPr algn="l" indent="0" marL="0">
              <a:lnSpc>
                <a:spcPct val="144000"/>
              </a:lnSpc>
              <a:buNone/>
            </a:pPr>
            <a:r>
              <a:rPr lang="en-US" sz="950" dirty="0">
                <a:solidFill>
                  <a:srgbClr val="94A3B8"/>
                </a:solidFill>
                <a:latin typeface="Inter Light" pitchFamily="34" charset="0"/>
                <a:ea typeface="Inter Light" pitchFamily="34" charset="-122"/>
                <a:cs typeface="Inter Light" pitchFamily="34" charset="-120"/>
              </a:rPr>
              <a:t>Gender Identification</a:t>
            </a:r>
            <a:endParaRPr lang="en-US" sz="950" dirty="0"/>
          </a:p>
        </p:txBody>
      </p:sp>
      <p:sp>
        <p:nvSpPr>
          <p:cNvPr id="8" name="Text 4"/>
          <p:cNvSpPr/>
          <p:nvPr/>
        </p:nvSpPr>
        <p:spPr>
          <a:xfrm>
            <a:off x="4914900" y="1714500"/>
            <a:ext cx="1966317" cy="207169"/>
          </a:xfrm>
          <a:prstGeom prst="rect">
            <a:avLst/>
          </a:prstGeom>
          <a:noFill/>
          <a:ln/>
        </p:spPr>
        <p:txBody>
          <a:bodyPr wrap="square" lIns="0" tIns="0" rIns="0" bIns="0" rtlCol="0" anchor="t">
            <a:spAutoFit/>
          </a:bodyPr>
          <a:lstStyle/>
          <a:p>
            <a:pPr algn="l" indent="0" marL="0">
              <a:buNone/>
            </a:pPr>
            <a:r>
              <a:rPr lang="en-US" sz="1200" b="1" spc="2" kern="0" dirty="0">
                <a:solidFill>
                  <a:srgbClr val="FFFFFF"/>
                </a:solidFill>
                <a:latin typeface="Inter Black" pitchFamily="34" charset="0"/>
                <a:ea typeface="Inter Black" pitchFamily="34" charset="-122"/>
                <a:cs typeface="Inter Black" pitchFamily="34" charset="-120"/>
              </a:rPr>
              <a:t>DIGITAL FOOTPRINT</a:t>
            </a:r>
            <a:endParaRPr lang="en-US" sz="1200" dirty="0"/>
          </a:p>
        </p:txBody>
      </p:sp>
      <p:sp>
        <p:nvSpPr>
          <p:cNvPr id="9" name="Text 5"/>
          <p:cNvSpPr/>
          <p:nvPr/>
        </p:nvSpPr>
        <p:spPr>
          <a:xfrm>
            <a:off x="4914900" y="2028825"/>
            <a:ext cx="1966317" cy="231446"/>
          </a:xfrm>
          <a:prstGeom prst="rect">
            <a:avLst/>
          </a:prstGeom>
          <a:noFill/>
          <a:ln/>
        </p:spPr>
        <p:txBody>
          <a:bodyPr wrap="none" lIns="0" tIns="0" rIns="0" bIns="0" rtlCol="0" anchor="t">
            <a:spAutoFit/>
          </a:bodyPr>
          <a:lstStyle/>
          <a:p>
            <a:pPr algn="l" indent="0" marL="0">
              <a:lnSpc>
                <a:spcPct val="144000"/>
              </a:lnSpc>
              <a:buNone/>
            </a:pPr>
            <a:r>
              <a:rPr lang="en-US" sz="950" dirty="0">
                <a:solidFill>
                  <a:srgbClr val="94A3B8"/>
                </a:solidFill>
                <a:latin typeface="Inter Light" pitchFamily="34" charset="0"/>
                <a:ea typeface="Inter Light" pitchFamily="34" charset="-122"/>
                <a:cs typeface="Inter Light" pitchFamily="34" charset="-120"/>
              </a:rPr>
              <a:t>Daily Social Media Hours</a:t>
            </a:r>
            <a:endParaRPr lang="en-US" sz="950" dirty="0"/>
          </a:p>
        </p:txBody>
      </p:sp>
      <p:sp>
        <p:nvSpPr>
          <p:cNvPr id="10" name="Text 6"/>
          <p:cNvSpPr/>
          <p:nvPr/>
        </p:nvSpPr>
        <p:spPr>
          <a:xfrm>
            <a:off x="4914900" y="2260271"/>
            <a:ext cx="1966317" cy="231446"/>
          </a:xfrm>
          <a:prstGeom prst="rect">
            <a:avLst/>
          </a:prstGeom>
          <a:noFill/>
          <a:ln/>
        </p:spPr>
        <p:txBody>
          <a:bodyPr wrap="none" lIns="0" tIns="0" rIns="0" bIns="0" rtlCol="0" anchor="t">
            <a:spAutoFit/>
          </a:bodyPr>
          <a:lstStyle/>
          <a:p>
            <a:pPr algn="l" indent="0" marL="0">
              <a:lnSpc>
                <a:spcPct val="144000"/>
              </a:lnSpc>
              <a:buNone/>
            </a:pPr>
            <a:r>
              <a:rPr lang="en-US" sz="950" dirty="0">
                <a:solidFill>
                  <a:srgbClr val="94A3B8"/>
                </a:solidFill>
                <a:latin typeface="Inter Light" pitchFamily="34" charset="0"/>
                <a:ea typeface="Inter Light" pitchFamily="34" charset="-122"/>
                <a:cs typeface="Inter Light" pitchFamily="34" charset="-120"/>
              </a:rPr>
              <a:t>Platform Usage (IG/TikTok)</a:t>
            </a:r>
            <a:endParaRPr lang="en-US" sz="950" dirty="0"/>
          </a:p>
        </p:txBody>
      </p:sp>
      <p:sp>
        <p:nvSpPr>
          <p:cNvPr id="11" name="Text 7"/>
          <p:cNvSpPr/>
          <p:nvPr/>
        </p:nvSpPr>
        <p:spPr>
          <a:xfrm>
            <a:off x="4914900" y="2491718"/>
            <a:ext cx="1966317" cy="231446"/>
          </a:xfrm>
          <a:prstGeom prst="rect">
            <a:avLst/>
          </a:prstGeom>
          <a:noFill/>
          <a:ln/>
        </p:spPr>
        <p:txBody>
          <a:bodyPr wrap="none" lIns="0" tIns="0" rIns="0" bIns="0" rtlCol="0" anchor="t">
            <a:spAutoFit/>
          </a:bodyPr>
          <a:lstStyle/>
          <a:p>
            <a:pPr algn="l" indent="0" marL="0">
              <a:lnSpc>
                <a:spcPct val="144000"/>
              </a:lnSpc>
              <a:buNone/>
            </a:pPr>
            <a:r>
              <a:rPr lang="en-US" sz="950" dirty="0">
                <a:solidFill>
                  <a:srgbClr val="94A3B8"/>
                </a:solidFill>
                <a:latin typeface="Inter Light" pitchFamily="34" charset="0"/>
                <a:ea typeface="Inter Light" pitchFamily="34" charset="-122"/>
                <a:cs typeface="Inter Light" pitchFamily="34" charset="-120"/>
              </a:rPr>
              <a:t>Screen Time Before Sleep</a:t>
            </a:r>
            <a:endParaRPr lang="en-US" sz="950" dirty="0"/>
          </a:p>
        </p:txBody>
      </p:sp>
      <p:sp>
        <p:nvSpPr>
          <p:cNvPr id="12" name="Text 8"/>
          <p:cNvSpPr/>
          <p:nvPr/>
        </p:nvSpPr>
        <p:spPr>
          <a:xfrm>
            <a:off x="771525" y="3286125"/>
            <a:ext cx="1987748" cy="207169"/>
          </a:xfrm>
          <a:prstGeom prst="rect">
            <a:avLst/>
          </a:prstGeom>
          <a:noFill/>
          <a:ln/>
        </p:spPr>
        <p:txBody>
          <a:bodyPr wrap="square" lIns="0" tIns="0" rIns="0" bIns="0" rtlCol="0" anchor="t">
            <a:spAutoFit/>
          </a:bodyPr>
          <a:lstStyle/>
          <a:p>
            <a:pPr algn="l" indent="0" marL="0">
              <a:buNone/>
            </a:pPr>
            <a:r>
              <a:rPr lang="en-US" sz="1200" b="1" spc="2" kern="0" dirty="0">
                <a:solidFill>
                  <a:srgbClr val="FFFFFF"/>
                </a:solidFill>
                <a:latin typeface="Inter Black" pitchFamily="34" charset="0"/>
                <a:ea typeface="Inter Black" pitchFamily="34" charset="-122"/>
                <a:cs typeface="Inter Black" pitchFamily="34" charset="-120"/>
              </a:rPr>
              <a:t>LIFESTYLE METRICS</a:t>
            </a:r>
            <a:endParaRPr lang="en-US" sz="1200" dirty="0"/>
          </a:p>
        </p:txBody>
      </p:sp>
      <p:sp>
        <p:nvSpPr>
          <p:cNvPr id="13" name="Text 9"/>
          <p:cNvSpPr/>
          <p:nvPr/>
        </p:nvSpPr>
        <p:spPr>
          <a:xfrm>
            <a:off x="771525" y="3600450"/>
            <a:ext cx="1987748" cy="231446"/>
          </a:xfrm>
          <a:prstGeom prst="rect">
            <a:avLst/>
          </a:prstGeom>
          <a:noFill/>
          <a:ln/>
        </p:spPr>
        <p:txBody>
          <a:bodyPr wrap="none" lIns="0" tIns="0" rIns="0" bIns="0" rtlCol="0" anchor="t">
            <a:spAutoFit/>
          </a:bodyPr>
          <a:lstStyle/>
          <a:p>
            <a:pPr algn="l" indent="0" marL="0">
              <a:lnSpc>
                <a:spcPct val="144000"/>
              </a:lnSpc>
              <a:buNone/>
            </a:pPr>
            <a:r>
              <a:rPr lang="en-US" sz="950" dirty="0">
                <a:solidFill>
                  <a:srgbClr val="94A3B8"/>
                </a:solidFill>
                <a:latin typeface="Inter Light" pitchFamily="34" charset="0"/>
                <a:ea typeface="Inter Light" pitchFamily="34" charset="-122"/>
                <a:cs typeface="Inter Light" pitchFamily="34" charset="-120"/>
              </a:rPr>
              <a:t>Sleep Duration (Hours)</a:t>
            </a:r>
            <a:endParaRPr lang="en-US" sz="950" dirty="0"/>
          </a:p>
        </p:txBody>
      </p:sp>
      <p:sp>
        <p:nvSpPr>
          <p:cNvPr id="14" name="Text 10"/>
          <p:cNvSpPr/>
          <p:nvPr/>
        </p:nvSpPr>
        <p:spPr>
          <a:xfrm>
            <a:off x="771525" y="3831896"/>
            <a:ext cx="1987748" cy="231446"/>
          </a:xfrm>
          <a:prstGeom prst="rect">
            <a:avLst/>
          </a:prstGeom>
          <a:noFill/>
          <a:ln/>
        </p:spPr>
        <p:txBody>
          <a:bodyPr wrap="none" lIns="0" tIns="0" rIns="0" bIns="0" rtlCol="0" anchor="t">
            <a:spAutoFit/>
          </a:bodyPr>
          <a:lstStyle/>
          <a:p>
            <a:pPr algn="l" indent="0" marL="0">
              <a:lnSpc>
                <a:spcPct val="144000"/>
              </a:lnSpc>
              <a:buNone/>
            </a:pPr>
            <a:r>
              <a:rPr lang="en-US" sz="950" dirty="0">
                <a:solidFill>
                  <a:srgbClr val="94A3B8"/>
                </a:solidFill>
                <a:latin typeface="Inter Light" pitchFamily="34" charset="0"/>
                <a:ea typeface="Inter Light" pitchFamily="34" charset="-122"/>
                <a:cs typeface="Inter Light" pitchFamily="34" charset="-120"/>
              </a:rPr>
              <a:t>Physical Activity Frequency</a:t>
            </a:r>
            <a:endParaRPr lang="en-US" sz="950" dirty="0"/>
          </a:p>
        </p:txBody>
      </p:sp>
      <p:sp>
        <p:nvSpPr>
          <p:cNvPr id="15" name="Text 11"/>
          <p:cNvSpPr/>
          <p:nvPr/>
        </p:nvSpPr>
        <p:spPr>
          <a:xfrm>
            <a:off x="771525" y="4063343"/>
            <a:ext cx="1987748" cy="231446"/>
          </a:xfrm>
          <a:prstGeom prst="rect">
            <a:avLst/>
          </a:prstGeom>
          <a:noFill/>
          <a:ln/>
        </p:spPr>
        <p:txBody>
          <a:bodyPr wrap="none" lIns="0" tIns="0" rIns="0" bIns="0" rtlCol="0" anchor="t">
            <a:spAutoFit/>
          </a:bodyPr>
          <a:lstStyle/>
          <a:p>
            <a:pPr algn="l" indent="0" marL="0">
              <a:lnSpc>
                <a:spcPct val="144000"/>
              </a:lnSpc>
              <a:buNone/>
            </a:pPr>
            <a:r>
              <a:rPr lang="en-US" sz="950" dirty="0">
                <a:solidFill>
                  <a:srgbClr val="94A3B8"/>
                </a:solidFill>
                <a:latin typeface="Inter Light" pitchFamily="34" charset="0"/>
                <a:ea typeface="Inter Light" pitchFamily="34" charset="-122"/>
                <a:cs typeface="Inter Light" pitchFamily="34" charset="-120"/>
              </a:rPr>
              <a:t>Social Interaction Level</a:t>
            </a:r>
            <a:endParaRPr lang="en-US" sz="950" dirty="0"/>
          </a:p>
        </p:txBody>
      </p:sp>
      <p:sp>
        <p:nvSpPr>
          <p:cNvPr id="16" name="Text 12"/>
          <p:cNvSpPr/>
          <p:nvPr/>
        </p:nvSpPr>
        <p:spPr>
          <a:xfrm>
            <a:off x="4914900" y="3286125"/>
            <a:ext cx="2580680" cy="207169"/>
          </a:xfrm>
          <a:prstGeom prst="rect">
            <a:avLst/>
          </a:prstGeom>
          <a:noFill/>
          <a:ln/>
        </p:spPr>
        <p:txBody>
          <a:bodyPr wrap="square" lIns="0" tIns="0" rIns="0" bIns="0" rtlCol="0" anchor="t">
            <a:spAutoFit/>
          </a:bodyPr>
          <a:lstStyle/>
          <a:p>
            <a:pPr algn="l" indent="0" marL="0">
              <a:buNone/>
            </a:pPr>
            <a:r>
              <a:rPr lang="en-US" sz="1200" b="1" spc="2" kern="0" dirty="0">
                <a:solidFill>
                  <a:srgbClr val="FFFFFF"/>
                </a:solidFill>
                <a:latin typeface="Inter Black" pitchFamily="34" charset="0"/>
                <a:ea typeface="Inter Black" pitchFamily="34" charset="-122"/>
                <a:cs typeface="Inter Black" pitchFamily="34" charset="-120"/>
              </a:rPr>
              <a:t>PSYCHOLOGICAL PROXIES</a:t>
            </a:r>
            <a:endParaRPr lang="en-US" sz="1200" dirty="0"/>
          </a:p>
        </p:txBody>
      </p:sp>
      <p:sp>
        <p:nvSpPr>
          <p:cNvPr id="17" name="Text 13"/>
          <p:cNvSpPr/>
          <p:nvPr/>
        </p:nvSpPr>
        <p:spPr>
          <a:xfrm>
            <a:off x="4914900" y="3600450"/>
            <a:ext cx="2580680" cy="231446"/>
          </a:xfrm>
          <a:prstGeom prst="rect">
            <a:avLst/>
          </a:prstGeom>
          <a:noFill/>
          <a:ln/>
        </p:spPr>
        <p:txBody>
          <a:bodyPr wrap="none" lIns="0" tIns="0" rIns="0" bIns="0" rtlCol="0" anchor="t">
            <a:spAutoFit/>
          </a:bodyPr>
          <a:lstStyle/>
          <a:p>
            <a:pPr algn="l" indent="0" marL="0">
              <a:lnSpc>
                <a:spcPct val="144000"/>
              </a:lnSpc>
              <a:buNone/>
            </a:pPr>
            <a:r>
              <a:rPr lang="en-US" sz="950" dirty="0">
                <a:solidFill>
                  <a:srgbClr val="94A3B8"/>
                </a:solidFill>
                <a:latin typeface="Inter Light" pitchFamily="34" charset="0"/>
                <a:ea typeface="Inter Light" pitchFamily="34" charset="-122"/>
                <a:cs typeface="Inter Light" pitchFamily="34" charset="-120"/>
              </a:rPr>
              <a:t>Stress &amp; Anxiety Levels</a:t>
            </a:r>
            <a:endParaRPr lang="en-US" sz="950" dirty="0"/>
          </a:p>
        </p:txBody>
      </p:sp>
      <p:sp>
        <p:nvSpPr>
          <p:cNvPr id="18" name="Text 14"/>
          <p:cNvSpPr/>
          <p:nvPr/>
        </p:nvSpPr>
        <p:spPr>
          <a:xfrm>
            <a:off x="4914900" y="3831896"/>
            <a:ext cx="2580680" cy="231446"/>
          </a:xfrm>
          <a:prstGeom prst="rect">
            <a:avLst/>
          </a:prstGeom>
          <a:noFill/>
          <a:ln/>
        </p:spPr>
        <p:txBody>
          <a:bodyPr wrap="none" lIns="0" tIns="0" rIns="0" bIns="0" rtlCol="0" anchor="t">
            <a:spAutoFit/>
          </a:bodyPr>
          <a:lstStyle/>
          <a:p>
            <a:pPr algn="l" indent="0" marL="0">
              <a:lnSpc>
                <a:spcPct val="144000"/>
              </a:lnSpc>
              <a:buNone/>
            </a:pPr>
            <a:r>
              <a:rPr lang="en-US" sz="950" dirty="0">
                <a:solidFill>
                  <a:srgbClr val="94A3B8"/>
                </a:solidFill>
                <a:latin typeface="Inter Light" pitchFamily="34" charset="0"/>
                <a:ea typeface="Inter Light" pitchFamily="34" charset="-122"/>
                <a:cs typeface="Inter Light" pitchFamily="34" charset="-120"/>
              </a:rPr>
              <a:t>Digital Addiction Index</a:t>
            </a:r>
            <a:endParaRPr lang="en-US" sz="950" dirty="0"/>
          </a:p>
        </p:txBody>
      </p:sp>
      <p:sp>
        <p:nvSpPr>
          <p:cNvPr id="19" name="Text 15"/>
          <p:cNvSpPr/>
          <p:nvPr/>
        </p:nvSpPr>
        <p:spPr>
          <a:xfrm>
            <a:off x="4914900" y="4063343"/>
            <a:ext cx="2580680" cy="231446"/>
          </a:xfrm>
          <a:prstGeom prst="rect">
            <a:avLst/>
          </a:prstGeom>
          <a:noFill/>
          <a:ln/>
        </p:spPr>
        <p:txBody>
          <a:bodyPr wrap="none" lIns="0" tIns="0" rIns="0" bIns="0" rtlCol="0" anchor="t">
            <a:spAutoFit/>
          </a:bodyPr>
          <a:lstStyle/>
          <a:p>
            <a:pPr algn="l" indent="0" marL="0">
              <a:lnSpc>
                <a:spcPct val="144000"/>
              </a:lnSpc>
              <a:buNone/>
            </a:pPr>
            <a:r>
              <a:rPr lang="en-US" sz="950" dirty="0">
                <a:solidFill>
                  <a:srgbClr val="94A3B8"/>
                </a:solidFill>
                <a:latin typeface="Inter Light" pitchFamily="34" charset="0"/>
                <a:ea typeface="Inter Light" pitchFamily="34" charset="-122"/>
                <a:cs typeface="Inter Light" pitchFamily="34" charset="-120"/>
              </a:rPr>
              <a:t>Academic Performance</a:t>
            </a:r>
            <a:endParaRPr lang="en-US" sz="950" dirty="0"/>
          </a:p>
        </p:txBody>
      </p:sp>
      <p:sp>
        <p:nvSpPr>
          <p:cNvPr id="20" name="Text 16"/>
          <p:cNvSpPr/>
          <p:nvPr/>
        </p:nvSpPr>
        <p:spPr>
          <a:xfrm>
            <a:off x="0" y="4857750"/>
            <a:ext cx="9144000" cy="121444"/>
          </a:xfrm>
          <a:prstGeom prst="rect">
            <a:avLst/>
          </a:prstGeom>
          <a:noFill/>
          <a:ln/>
        </p:spPr>
        <p:txBody>
          <a:bodyPr wrap="square" lIns="680339" tIns="0" rIns="0" bIns="0" rtlCol="0" anchor="t">
            <a:spAutoFit/>
          </a:bodyPr>
          <a:lstStyle/>
          <a:p>
            <a:pPr algn="l" indent="0" marL="0">
              <a:buNone/>
            </a:pPr>
            <a:r>
              <a:rPr lang="en-US" sz="700" b="1" spc="2" kern="0" dirty="0">
                <a:solidFill>
                  <a:srgbClr val="64748B"/>
                </a:solidFill>
                <a:latin typeface="Inter Black" pitchFamily="34" charset="0"/>
                <a:ea typeface="Inter Black" pitchFamily="34" charset="-122"/>
                <a:cs typeface="Inter Black" pitchFamily="34" charset="-120"/>
              </a:rPr>
              <a:t>MULTI-DIMENSIONAL FEATURE ENGINEERING PIPELINE</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9144000" cy="1107281"/>
          </a:xfrm>
          <a:prstGeom prst="rect">
            <a:avLst/>
          </a:prstGeom>
          <a:noFill/>
          <a:ln/>
        </p:spPr>
        <p:txBody>
          <a:bodyPr wrap="square" lIns="0" tIns="0" rIns="0" bIns="0" rtlCol="0" anchor="t">
            <a:spAutoFit/>
          </a:bodyPr>
          <a:lstStyle/>
          <a:p>
            <a:pPr algn="l" indent="0" marL="0">
              <a:buNone/>
            </a:pPr>
            <a:r>
              <a:rPr lang="en-US" sz="3300" b="1" dirty="0">
                <a:solidFill>
                  <a:srgbClr val="FFFFFF"/>
                </a:solidFill>
                <a:latin typeface="Inter Black" pitchFamily="34" charset="0"/>
                <a:ea typeface="Inter Black" pitchFamily="34" charset="-122"/>
                <a:cs typeface="Inter Black" pitchFamily="34" charset="-120"/>
              </a:rPr>
              <a:t>Visualizing the Digital-Mental Health Link</a:t>
            </a:r>
            <a:endParaRPr lang="en-US" sz="3300" dirty="0"/>
          </a:p>
        </p:txBody>
      </p:sp>
      <p:sp>
        <p:nvSpPr>
          <p:cNvPr id="5" name="Text 1"/>
          <p:cNvSpPr/>
          <p:nvPr/>
        </p:nvSpPr>
        <p:spPr>
          <a:xfrm>
            <a:off x="571500" y="1678781"/>
            <a:ext cx="3857625" cy="207169"/>
          </a:xfrm>
          <a:prstGeom prst="rect">
            <a:avLst/>
          </a:prstGeom>
          <a:noFill/>
          <a:ln/>
        </p:spPr>
        <p:txBody>
          <a:bodyPr wrap="square" lIns="0" tIns="0" rIns="0" bIns="0" rtlCol="0" anchor="t">
            <a:spAutoFit/>
          </a:bodyPr>
          <a:lstStyle/>
          <a:p>
            <a:pPr algn="l" indent="0" marL="0">
              <a:buNone/>
            </a:pPr>
            <a:r>
              <a:rPr lang="en-US" sz="1200" b="1" spc="2" kern="0" dirty="0">
                <a:solidFill>
                  <a:srgbClr val="22D3EE"/>
                </a:solidFill>
                <a:latin typeface="Inter Black" pitchFamily="34" charset="0"/>
                <a:ea typeface="Inter Black" pitchFamily="34" charset="-122"/>
                <a:cs typeface="Inter Black" pitchFamily="34" charset="-120"/>
              </a:rPr>
              <a:t>PHYSICAL ACTIVITY VS STRESS</a:t>
            </a:r>
            <a:endParaRPr lang="en-US" sz="1200" dirty="0"/>
          </a:p>
        </p:txBody>
      </p:sp>
      <p:sp>
        <p:nvSpPr>
          <p:cNvPr id="6" name="Shape 2"/>
          <p:cNvSpPr/>
          <p:nvPr/>
        </p:nvSpPr>
        <p:spPr>
          <a:xfrm>
            <a:off x="571500" y="2028825"/>
            <a:ext cx="3857625" cy="2143125"/>
          </a:xfrm>
          <a:prstGeom prst="rect">
            <a:avLst/>
          </a:prstGeom>
          <a:solidFill>
            <a:srgbClr val="0F172A">
              <a:alpha val="50000"/>
            </a:srgbClr>
          </a:solidFill>
          <a:ln/>
        </p:spPr>
      </p:sp>
      <p:pic>
        <p:nvPicPr>
          <p:cNvPr id="7" name="Image 1" descr="preencoded.png">    </p:cNvPr>
          <p:cNvPicPr>
            <a:picLocks noChangeAspect="1"/>
          </p:cNvPicPr>
          <p:nvPr/>
        </p:nvPicPr>
        <p:blipFill>
          <a:blip r:embed="rId2"/>
          <a:stretch>
            <a:fillRect/>
          </a:stretch>
        </p:blipFill>
        <p:spPr>
          <a:xfrm>
            <a:off x="571500" y="2028825"/>
            <a:ext cx="3857625" cy="2143125"/>
          </a:xfrm>
          <a:prstGeom prst="rect">
            <a:avLst/>
          </a:prstGeom>
        </p:spPr>
      </p:pic>
      <p:sp>
        <p:nvSpPr>
          <p:cNvPr id="8" name="Text 3"/>
          <p:cNvSpPr/>
          <p:nvPr/>
        </p:nvSpPr>
        <p:spPr>
          <a:xfrm>
            <a:off x="4714875" y="1678781"/>
            <a:ext cx="3857625" cy="207169"/>
          </a:xfrm>
          <a:prstGeom prst="rect">
            <a:avLst/>
          </a:prstGeom>
          <a:noFill/>
          <a:ln/>
        </p:spPr>
        <p:txBody>
          <a:bodyPr wrap="square" lIns="0" tIns="0" rIns="0" bIns="0" rtlCol="0" anchor="t">
            <a:spAutoFit/>
          </a:bodyPr>
          <a:lstStyle/>
          <a:p>
            <a:pPr algn="l" indent="0" marL="0">
              <a:buNone/>
            </a:pPr>
            <a:r>
              <a:rPr lang="en-US" sz="1200" b="1" spc="2" kern="0" dirty="0">
                <a:solidFill>
                  <a:srgbClr val="22D3EE"/>
                </a:solidFill>
                <a:latin typeface="Inter Black" pitchFamily="34" charset="0"/>
                <a:ea typeface="Inter Black" pitchFamily="34" charset="-122"/>
                <a:cs typeface="Inter Black" pitchFamily="34" charset="-120"/>
              </a:rPr>
              <a:t>SCREEN EXPOSURE IMPACT</a:t>
            </a:r>
            <a:endParaRPr lang="en-US" sz="1200" dirty="0"/>
          </a:p>
        </p:txBody>
      </p:sp>
      <p:sp>
        <p:nvSpPr>
          <p:cNvPr id="9" name="Shape 4"/>
          <p:cNvSpPr/>
          <p:nvPr/>
        </p:nvSpPr>
        <p:spPr>
          <a:xfrm>
            <a:off x="4714875" y="2028825"/>
            <a:ext cx="3857625" cy="2143125"/>
          </a:xfrm>
          <a:prstGeom prst="rect">
            <a:avLst/>
          </a:prstGeom>
          <a:solidFill>
            <a:srgbClr val="0F172A">
              <a:alpha val="50000"/>
            </a:srgbClr>
          </a:solidFill>
          <a:ln/>
        </p:spPr>
      </p:sp>
      <p:pic>
        <p:nvPicPr>
          <p:cNvPr id="10" name="Image 2" descr="preencoded.png">    </p:cNvPr>
          <p:cNvPicPr>
            <a:picLocks noChangeAspect="1"/>
          </p:cNvPicPr>
          <p:nvPr/>
        </p:nvPicPr>
        <p:blipFill>
          <a:blip r:embed="rId3"/>
          <a:stretch>
            <a:fillRect/>
          </a:stretch>
        </p:blipFill>
        <p:spPr>
          <a:xfrm>
            <a:off x="4714875" y="2028825"/>
            <a:ext cx="3857625" cy="2143125"/>
          </a:xfrm>
          <a:prstGeom prst="rect">
            <a:avLst/>
          </a:prstGeom>
        </p:spPr>
      </p:pic>
      <p:sp>
        <p:nvSpPr>
          <p:cNvPr id="11" name="Shape 5"/>
          <p:cNvSpPr/>
          <p:nvPr/>
        </p:nvSpPr>
        <p:spPr>
          <a:xfrm>
            <a:off x="0" y="4457700"/>
            <a:ext cx="9144000" cy="612577"/>
          </a:xfrm>
          <a:prstGeom prst="rect">
            <a:avLst/>
          </a:prstGeom>
          <a:solidFill>
            <a:srgbClr val="000000">
              <a:alpha val="0"/>
            </a:srgbClr>
          </a:solidFill>
          <a:ln/>
        </p:spPr>
      </p:sp>
      <p:sp>
        <p:nvSpPr>
          <p:cNvPr id="12" name="Shape 6"/>
          <p:cNvSpPr/>
          <p:nvPr/>
        </p:nvSpPr>
        <p:spPr>
          <a:xfrm>
            <a:off x="0" y="4457700"/>
            <a:ext cx="9144000" cy="7144"/>
          </a:xfrm>
          <a:prstGeom prst="rect">
            <a:avLst/>
          </a:prstGeom>
          <a:solidFill>
            <a:srgbClr val="F4F6F8"/>
          </a:solidFill>
          <a:ln/>
        </p:spPr>
      </p:sp>
      <p:sp>
        <p:nvSpPr>
          <p:cNvPr id="13" name="Text 7"/>
          <p:cNvSpPr/>
          <p:nvPr/>
        </p:nvSpPr>
        <p:spPr>
          <a:xfrm>
            <a:off x="571500" y="4529138"/>
            <a:ext cx="2500313" cy="155377"/>
          </a:xfrm>
          <a:prstGeom prst="rect">
            <a:avLst/>
          </a:prstGeom>
          <a:noFill/>
          <a:ln/>
        </p:spPr>
        <p:txBody>
          <a:bodyPr wrap="square" lIns="0" tIns="0" rIns="0" bIns="0" rtlCol="0" anchor="t">
            <a:spAutoFit/>
          </a:bodyPr>
          <a:lstStyle/>
          <a:p>
            <a:pPr algn="l" indent="0" marL="0">
              <a:buNone/>
            </a:pPr>
            <a:r>
              <a:rPr lang="en-US" sz="900" b="1" dirty="0">
                <a:solidFill>
                  <a:srgbClr val="FFFFFF"/>
                </a:solidFill>
                <a:latin typeface="Inter Black" pitchFamily="34" charset="0"/>
                <a:ea typeface="Inter Black" pitchFamily="34" charset="-122"/>
                <a:cs typeface="Inter Black" pitchFamily="34" charset="-120"/>
              </a:rPr>
              <a:t>The Buffer Effect</a:t>
            </a:r>
            <a:endParaRPr lang="en-US" sz="900" dirty="0"/>
          </a:p>
        </p:txBody>
      </p:sp>
      <p:sp>
        <p:nvSpPr>
          <p:cNvPr id="14" name="Text 8"/>
          <p:cNvSpPr/>
          <p:nvPr/>
        </p:nvSpPr>
        <p:spPr>
          <a:xfrm>
            <a:off x="571500" y="4720233"/>
            <a:ext cx="2500313" cy="342900"/>
          </a:xfrm>
          <a:prstGeom prst="rect">
            <a:avLst/>
          </a:prstGeom>
          <a:noFill/>
          <a:ln/>
        </p:spPr>
        <p:txBody>
          <a:bodyPr wrap="square" lIns="0" tIns="0" rIns="0" bIns="0" rtlCol="0" anchor="t">
            <a:spAutoFit/>
          </a:bodyPr>
          <a:lstStyle/>
          <a:p>
            <a:pPr algn="l" indent="0" marL="0">
              <a:lnSpc>
                <a:spcPct val="120000"/>
              </a:lnSpc>
              <a:buNone/>
            </a:pPr>
            <a:r>
              <a:rPr lang="en-US" sz="850" dirty="0">
                <a:solidFill>
                  <a:srgbClr val="94A3B8"/>
                </a:solidFill>
                <a:latin typeface="Inter Light" pitchFamily="34" charset="0"/>
                <a:ea typeface="Inter Light" pitchFamily="34" charset="-122"/>
                <a:cs typeface="Inter Light" pitchFamily="34" charset="-120"/>
              </a:rPr>
              <a:t>High physical activity levels correlate with a 30% reduction in perceived stress markers.</a:t>
            </a:r>
            <a:endParaRPr lang="en-US" sz="850" dirty="0"/>
          </a:p>
        </p:txBody>
      </p:sp>
      <p:sp>
        <p:nvSpPr>
          <p:cNvPr id="15" name="Text 9"/>
          <p:cNvSpPr/>
          <p:nvPr/>
        </p:nvSpPr>
        <p:spPr>
          <a:xfrm>
            <a:off x="3500438" y="4529138"/>
            <a:ext cx="2500313" cy="155377"/>
          </a:xfrm>
          <a:prstGeom prst="rect">
            <a:avLst/>
          </a:prstGeom>
          <a:noFill/>
          <a:ln/>
        </p:spPr>
        <p:txBody>
          <a:bodyPr wrap="square" lIns="0" tIns="0" rIns="0" bIns="0" rtlCol="0" anchor="t">
            <a:spAutoFit/>
          </a:bodyPr>
          <a:lstStyle/>
          <a:p>
            <a:pPr algn="l" indent="0" marL="0">
              <a:buNone/>
            </a:pPr>
            <a:r>
              <a:rPr lang="en-US" sz="900" b="1" dirty="0">
                <a:solidFill>
                  <a:srgbClr val="FFFFFF"/>
                </a:solidFill>
                <a:latin typeface="Inter Black" pitchFamily="34" charset="0"/>
                <a:ea typeface="Inter Black" pitchFamily="34" charset="-122"/>
                <a:cs typeface="Inter Black" pitchFamily="34" charset="-120"/>
              </a:rPr>
              <a:t>Digital Saturation</a:t>
            </a:r>
            <a:endParaRPr lang="en-US" sz="900" dirty="0"/>
          </a:p>
        </p:txBody>
      </p:sp>
      <p:sp>
        <p:nvSpPr>
          <p:cNvPr id="16" name="Text 10"/>
          <p:cNvSpPr/>
          <p:nvPr/>
        </p:nvSpPr>
        <p:spPr>
          <a:xfrm>
            <a:off x="3500438" y="4720233"/>
            <a:ext cx="2500313" cy="342900"/>
          </a:xfrm>
          <a:prstGeom prst="rect">
            <a:avLst/>
          </a:prstGeom>
          <a:noFill/>
          <a:ln/>
        </p:spPr>
        <p:txBody>
          <a:bodyPr wrap="square" lIns="0" tIns="0" rIns="0" bIns="0" rtlCol="0" anchor="t">
            <a:spAutoFit/>
          </a:bodyPr>
          <a:lstStyle/>
          <a:p>
            <a:pPr algn="l" indent="0" marL="0">
              <a:lnSpc>
                <a:spcPct val="120000"/>
              </a:lnSpc>
              <a:buNone/>
            </a:pPr>
            <a:r>
              <a:rPr lang="en-US" sz="850" dirty="0">
                <a:solidFill>
                  <a:srgbClr val="94A3B8"/>
                </a:solidFill>
                <a:latin typeface="Inter Light" pitchFamily="34" charset="0"/>
                <a:ea typeface="Inter Light" pitchFamily="34" charset="-122"/>
                <a:cs typeface="Inter Light" pitchFamily="34" charset="-120"/>
              </a:rPr>
              <a:t>Screen exposure exceeding 6 hours daily shows a sharp pivot in depression risk labels.</a:t>
            </a:r>
            <a:endParaRPr lang="en-US" sz="850" dirty="0"/>
          </a:p>
        </p:txBody>
      </p:sp>
      <p:sp>
        <p:nvSpPr>
          <p:cNvPr id="17" name="Text 11"/>
          <p:cNvSpPr/>
          <p:nvPr/>
        </p:nvSpPr>
        <p:spPr>
          <a:xfrm>
            <a:off x="6429375" y="4529138"/>
            <a:ext cx="2500313" cy="155377"/>
          </a:xfrm>
          <a:prstGeom prst="rect">
            <a:avLst/>
          </a:prstGeom>
          <a:noFill/>
          <a:ln/>
        </p:spPr>
        <p:txBody>
          <a:bodyPr wrap="square" lIns="0" tIns="0" rIns="0" bIns="0" rtlCol="0" anchor="t">
            <a:spAutoFit/>
          </a:bodyPr>
          <a:lstStyle/>
          <a:p>
            <a:pPr algn="l" indent="0" marL="0">
              <a:buNone/>
            </a:pPr>
            <a:r>
              <a:rPr lang="en-US" sz="900" b="1" dirty="0">
                <a:solidFill>
                  <a:srgbClr val="FFFFFF"/>
                </a:solidFill>
                <a:latin typeface="Inter Black" pitchFamily="34" charset="0"/>
                <a:ea typeface="Inter Black" pitchFamily="34" charset="-122"/>
                <a:cs typeface="Inter Black" pitchFamily="34" charset="-120"/>
              </a:rPr>
              <a:t>Social Buffer</a:t>
            </a:r>
            <a:endParaRPr lang="en-US" sz="900" dirty="0"/>
          </a:p>
        </p:txBody>
      </p:sp>
      <p:sp>
        <p:nvSpPr>
          <p:cNvPr id="18" name="Text 12"/>
          <p:cNvSpPr/>
          <p:nvPr/>
        </p:nvSpPr>
        <p:spPr>
          <a:xfrm>
            <a:off x="6429375" y="4720233"/>
            <a:ext cx="2500313" cy="342900"/>
          </a:xfrm>
          <a:prstGeom prst="rect">
            <a:avLst/>
          </a:prstGeom>
          <a:noFill/>
          <a:ln/>
        </p:spPr>
        <p:txBody>
          <a:bodyPr wrap="square" lIns="0" tIns="0" rIns="0" bIns="0" rtlCol="0" anchor="t">
            <a:spAutoFit/>
          </a:bodyPr>
          <a:lstStyle/>
          <a:p>
            <a:pPr algn="l" indent="0" marL="0">
              <a:lnSpc>
                <a:spcPct val="120000"/>
              </a:lnSpc>
              <a:buNone/>
            </a:pPr>
            <a:r>
              <a:rPr lang="en-US" sz="850" dirty="0">
                <a:solidFill>
                  <a:srgbClr val="94A3B8"/>
                </a:solidFill>
                <a:latin typeface="Inter Light" pitchFamily="34" charset="0"/>
                <a:ea typeface="Inter Light" pitchFamily="34" charset="-122"/>
                <a:cs typeface="Inter Light" pitchFamily="34" charset="-120"/>
              </a:rPr>
              <a:t>High social interaction levels mitigate the negative impacts of high social media usage.</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9144000" cy="967978"/>
          </a:xfrm>
          <a:prstGeom prst="rect">
            <a:avLst/>
          </a:prstGeom>
          <a:noFill/>
          <a:ln/>
        </p:spPr>
        <p:txBody>
          <a:bodyPr wrap="square" lIns="0" tIns="0" rIns="0" bIns="0" rtlCol="0" anchor="t">
            <a:spAutoFit/>
          </a:bodyPr>
          <a:lstStyle/>
          <a:p>
            <a:pPr algn="l" indent="0" marL="0">
              <a:buNone/>
            </a:pPr>
            <a:r>
              <a:rPr lang="en-US" sz="2850" b="1" dirty="0">
                <a:solidFill>
                  <a:srgbClr val="FFFFFF"/>
                </a:solidFill>
                <a:latin typeface="Inter Black" pitchFamily="34" charset="0"/>
                <a:ea typeface="Inter Black" pitchFamily="34" charset="-122"/>
                <a:cs typeface="Inter Black" pitchFamily="34" charset="-120"/>
              </a:rPr>
              <a:t>Mapping the Interconnectedness of Lifestyle Factors</a:t>
            </a:r>
            <a:endParaRPr lang="en-US" sz="2850" dirty="0"/>
          </a:p>
        </p:txBody>
      </p:sp>
      <p:sp>
        <p:nvSpPr>
          <p:cNvPr id="5" name="Shape 1"/>
          <p:cNvSpPr/>
          <p:nvPr/>
        </p:nvSpPr>
        <p:spPr>
          <a:xfrm>
            <a:off x="571500" y="1714500"/>
            <a:ext cx="4300538" cy="3228975"/>
          </a:xfrm>
          <a:prstGeom prst="rect">
            <a:avLst/>
          </a:prstGeom>
          <a:solidFill>
            <a:srgbClr val="0F172A">
              <a:alpha val="50000"/>
            </a:srgbClr>
          </a:solidFill>
          <a:ln w="9144">
            <a:solidFill>
              <a:srgbClr val="22D3EE">
                <a:alpha val="10000"/>
              </a:srgbClr>
            </a:solidFill>
            <a:prstDash val="solid"/>
          </a:ln>
        </p:spPr>
      </p:sp>
      <p:sp>
        <p:nvSpPr>
          <p:cNvPr id="6" name="Text 2"/>
          <p:cNvSpPr/>
          <p:nvPr/>
        </p:nvSpPr>
        <p:spPr>
          <a:xfrm>
            <a:off x="3684389" y="4752380"/>
            <a:ext cx="150019" cy="105370"/>
          </a:xfrm>
          <a:prstGeom prst="rect">
            <a:avLst/>
          </a:prstGeom>
          <a:noFill/>
          <a:ln/>
        </p:spPr>
        <p:txBody>
          <a:bodyPr wrap="none" lIns="0" tIns="0" rIns="0" bIns="0" rtlCol="0" anchor="t">
            <a:spAutoFit/>
          </a:bodyPr>
          <a:lstStyle/>
          <a:p>
            <a:pPr algn="l" indent="0" marL="0">
              <a:buNone/>
            </a:pPr>
            <a:r>
              <a:rPr lang="en-US" sz="600" dirty="0">
                <a:solidFill>
                  <a:srgbClr val="94A3B8"/>
                </a:solidFill>
                <a:latin typeface="Inter Light" pitchFamily="34" charset="0"/>
                <a:ea typeface="Inter Light" pitchFamily="34" charset="-122"/>
                <a:cs typeface="Inter Light" pitchFamily="34" charset="-120"/>
              </a:rPr>
              <a:t>-1.0</a:t>
            </a:r>
            <a:endParaRPr lang="en-US" sz="600" dirty="0"/>
          </a:p>
        </p:txBody>
      </p:sp>
      <p:sp>
        <p:nvSpPr>
          <p:cNvPr id="7" name="Text 3"/>
          <p:cNvSpPr/>
          <p:nvPr/>
        </p:nvSpPr>
        <p:spPr>
          <a:xfrm>
            <a:off x="4620220" y="4752380"/>
            <a:ext cx="166092" cy="105370"/>
          </a:xfrm>
          <a:prstGeom prst="rect">
            <a:avLst/>
          </a:prstGeom>
          <a:noFill/>
          <a:ln/>
        </p:spPr>
        <p:txBody>
          <a:bodyPr wrap="none" lIns="0" tIns="0" rIns="0" bIns="0" rtlCol="0" anchor="t">
            <a:spAutoFit/>
          </a:bodyPr>
          <a:lstStyle/>
          <a:p>
            <a:pPr algn="l" indent="0" marL="0">
              <a:buNone/>
            </a:pPr>
            <a:r>
              <a:rPr lang="en-US" sz="600" dirty="0">
                <a:solidFill>
                  <a:srgbClr val="94A3B8"/>
                </a:solidFill>
                <a:latin typeface="Inter Light" pitchFamily="34" charset="0"/>
                <a:ea typeface="Inter Light" pitchFamily="34" charset="-122"/>
                <a:cs typeface="Inter Light" pitchFamily="34" charset="-120"/>
              </a:rPr>
              <a:t>+1.0</a:t>
            </a:r>
            <a:endParaRPr lang="en-US" sz="600" dirty="0"/>
          </a:p>
        </p:txBody>
      </p:sp>
      <p:pic>
        <p:nvPicPr>
          <p:cNvPr id="8" name="Image 1" descr="preencoded.png">    </p:cNvPr>
          <p:cNvPicPr>
            <a:picLocks noChangeAspect="1"/>
          </p:cNvPicPr>
          <p:nvPr/>
        </p:nvPicPr>
        <p:blipFill>
          <a:blip r:embed="rId2"/>
          <a:stretch>
            <a:fillRect/>
          </a:stretch>
        </p:blipFill>
        <p:spPr>
          <a:xfrm>
            <a:off x="928688" y="1893094"/>
            <a:ext cx="3571875" cy="2857500"/>
          </a:xfrm>
          <a:prstGeom prst="rect">
            <a:avLst/>
          </a:prstGeom>
        </p:spPr>
      </p:pic>
      <p:sp>
        <p:nvSpPr>
          <p:cNvPr id="9" name="Text 4"/>
          <p:cNvSpPr/>
          <p:nvPr/>
        </p:nvSpPr>
        <p:spPr>
          <a:xfrm>
            <a:off x="5486400" y="1714500"/>
            <a:ext cx="3086100" cy="207169"/>
          </a:xfrm>
          <a:prstGeom prst="rect">
            <a:avLst/>
          </a:prstGeom>
          <a:noFill/>
          <a:ln/>
        </p:spPr>
        <p:txBody>
          <a:bodyPr wrap="square" lIns="0" tIns="0" rIns="0" bIns="0" rtlCol="0" anchor="t">
            <a:spAutoFit/>
          </a:bodyPr>
          <a:lstStyle/>
          <a:p>
            <a:pPr algn="l" indent="0" marL="0">
              <a:buNone/>
            </a:pPr>
            <a:r>
              <a:rPr lang="en-US" sz="1200" b="1" dirty="0">
                <a:solidFill>
                  <a:srgbClr val="FFFFFF"/>
                </a:solidFill>
                <a:latin typeface="Inter Black" pitchFamily="34" charset="0"/>
                <a:ea typeface="Inter Black" pitchFamily="34" charset="-122"/>
                <a:cs typeface="Inter Black" pitchFamily="34" charset="-120"/>
              </a:rPr>
              <a:t>The Heatmap Analysis</a:t>
            </a:r>
            <a:endParaRPr lang="en-US" sz="1200" dirty="0"/>
          </a:p>
        </p:txBody>
      </p:sp>
      <p:sp>
        <p:nvSpPr>
          <p:cNvPr id="10" name="Text 5"/>
          <p:cNvSpPr/>
          <p:nvPr/>
        </p:nvSpPr>
        <p:spPr>
          <a:xfrm>
            <a:off x="5486400" y="1978819"/>
            <a:ext cx="3086100" cy="578644"/>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94A3B8"/>
                </a:solidFill>
                <a:latin typeface="Inter Light" pitchFamily="34" charset="0"/>
                <a:ea typeface="Inter Light" pitchFamily="34" charset="-122"/>
                <a:cs typeface="Inter Light" pitchFamily="34" charset="-120"/>
              </a:rPr>
              <a:t>Identifying strong positive correlations between addiction levels and anxiety markers across all demographics.</a:t>
            </a:r>
            <a:endParaRPr lang="en-US" sz="950" dirty="0"/>
          </a:p>
        </p:txBody>
      </p:sp>
      <p:sp>
        <p:nvSpPr>
          <p:cNvPr id="11" name="Text 6"/>
          <p:cNvSpPr/>
          <p:nvPr/>
        </p:nvSpPr>
        <p:spPr>
          <a:xfrm>
            <a:off x="5486400" y="2807494"/>
            <a:ext cx="3086100" cy="207169"/>
          </a:xfrm>
          <a:prstGeom prst="rect">
            <a:avLst/>
          </a:prstGeom>
          <a:noFill/>
          <a:ln/>
        </p:spPr>
        <p:txBody>
          <a:bodyPr wrap="square" lIns="0" tIns="0" rIns="0" bIns="0" rtlCol="0" anchor="t">
            <a:spAutoFit/>
          </a:bodyPr>
          <a:lstStyle/>
          <a:p>
            <a:pPr algn="l" indent="0" marL="0">
              <a:buNone/>
            </a:pPr>
            <a:r>
              <a:rPr lang="en-US" sz="1200" b="1" dirty="0">
                <a:solidFill>
                  <a:srgbClr val="FFFFFF"/>
                </a:solidFill>
                <a:latin typeface="Inter Black" pitchFamily="34" charset="0"/>
                <a:ea typeface="Inter Black" pitchFamily="34" charset="-122"/>
                <a:cs typeface="Inter Black" pitchFamily="34" charset="-120"/>
              </a:rPr>
              <a:t>Platform Impact</a:t>
            </a:r>
            <a:endParaRPr lang="en-US" sz="1200" dirty="0"/>
          </a:p>
        </p:txBody>
      </p:sp>
      <p:sp>
        <p:nvSpPr>
          <p:cNvPr id="12" name="Text 7"/>
          <p:cNvSpPr/>
          <p:nvPr/>
        </p:nvSpPr>
        <p:spPr>
          <a:xfrm>
            <a:off x="5486400" y="3071813"/>
            <a:ext cx="3086100" cy="578644"/>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94A3B8"/>
                </a:solidFill>
                <a:latin typeface="Inter Light" pitchFamily="34" charset="0"/>
                <a:ea typeface="Inter Light" pitchFamily="34" charset="-122"/>
                <a:cs typeface="Inter Light" pitchFamily="34" charset="-120"/>
              </a:rPr>
              <a:t>Social media platform choice (Instagram vs. TikTok) shows varying impacts on stress and screen exposure.</a:t>
            </a:r>
            <a:endParaRPr lang="en-US" sz="950" dirty="0"/>
          </a:p>
        </p:txBody>
      </p:sp>
      <p:sp>
        <p:nvSpPr>
          <p:cNvPr id="13" name="Text 8"/>
          <p:cNvSpPr/>
          <p:nvPr/>
        </p:nvSpPr>
        <p:spPr>
          <a:xfrm>
            <a:off x="5486400" y="3900488"/>
            <a:ext cx="3086100" cy="207169"/>
          </a:xfrm>
          <a:prstGeom prst="rect">
            <a:avLst/>
          </a:prstGeom>
          <a:noFill/>
          <a:ln/>
        </p:spPr>
        <p:txBody>
          <a:bodyPr wrap="square" lIns="0" tIns="0" rIns="0" bIns="0" rtlCol="0" anchor="t">
            <a:spAutoFit/>
          </a:bodyPr>
          <a:lstStyle/>
          <a:p>
            <a:pPr algn="l" indent="0" marL="0">
              <a:buNone/>
            </a:pPr>
            <a:r>
              <a:rPr lang="en-US" sz="1200" b="1" dirty="0">
                <a:solidFill>
                  <a:srgbClr val="FFFFFF"/>
                </a:solidFill>
                <a:latin typeface="Inter Black" pitchFamily="34" charset="0"/>
                <a:ea typeface="Inter Black" pitchFamily="34" charset="-122"/>
                <a:cs typeface="Inter Black" pitchFamily="34" charset="-120"/>
              </a:rPr>
              <a:t>Central Node: Sleep</a:t>
            </a:r>
            <a:endParaRPr lang="en-US" sz="1200" dirty="0"/>
          </a:p>
        </p:txBody>
      </p:sp>
      <p:sp>
        <p:nvSpPr>
          <p:cNvPr id="14" name="Text 9"/>
          <p:cNvSpPr/>
          <p:nvPr/>
        </p:nvSpPr>
        <p:spPr>
          <a:xfrm>
            <a:off x="5486400" y="4164806"/>
            <a:ext cx="3086100" cy="385763"/>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94A3B8"/>
                </a:solidFill>
                <a:latin typeface="Inter Light" pitchFamily="34" charset="0"/>
                <a:ea typeface="Inter Light" pitchFamily="34" charset="-122"/>
                <a:cs typeface="Inter Light" pitchFamily="34" charset="-120"/>
              </a:rPr>
              <a:t>Sleep quality emerges as the central node connecting digital habits to overall mental state.</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9144000" cy="1107281"/>
          </a:xfrm>
          <a:prstGeom prst="rect">
            <a:avLst/>
          </a:prstGeom>
          <a:noFill/>
          <a:ln/>
        </p:spPr>
        <p:txBody>
          <a:bodyPr wrap="square" lIns="0" tIns="0" rIns="0" bIns="0" rtlCol="0" anchor="t">
            <a:spAutoFit/>
          </a:bodyPr>
          <a:lstStyle/>
          <a:p>
            <a:pPr algn="l" indent="0" marL="0">
              <a:buNone/>
            </a:pPr>
            <a:r>
              <a:rPr lang="en-US" sz="3300" b="1" dirty="0">
                <a:solidFill>
                  <a:srgbClr val="FFFFFF"/>
                </a:solidFill>
                <a:latin typeface="Inter Black" pitchFamily="34" charset="0"/>
                <a:ea typeface="Inter Black" pitchFamily="34" charset="-122"/>
                <a:cs typeface="Inter Black" pitchFamily="34" charset="-120"/>
              </a:rPr>
              <a:t>The Engine: Multi-Model Algorithmic Framework</a:t>
            </a:r>
            <a:endParaRPr lang="en-US" sz="3300" dirty="0"/>
          </a:p>
        </p:txBody>
      </p:sp>
      <p:sp>
        <p:nvSpPr>
          <p:cNvPr id="5" name="Text 1"/>
          <p:cNvSpPr/>
          <p:nvPr/>
        </p:nvSpPr>
        <p:spPr>
          <a:xfrm>
            <a:off x="571500" y="2393156"/>
            <a:ext cx="2204349" cy="121444"/>
          </a:xfrm>
          <a:prstGeom prst="rect">
            <a:avLst/>
          </a:prstGeom>
          <a:noFill/>
          <a:ln/>
        </p:spPr>
        <p:txBody>
          <a:bodyPr wrap="square" lIns="0" tIns="0" rIns="0" bIns="0" rtlCol="0" anchor="t">
            <a:spAutoFit/>
          </a:bodyPr>
          <a:lstStyle/>
          <a:p>
            <a:pPr algn="l" indent="0" marL="0">
              <a:buNone/>
            </a:pPr>
            <a:r>
              <a:rPr lang="en-US" sz="700" b="1" spc="2" kern="0" dirty="0">
                <a:solidFill>
                  <a:srgbClr val="64748B"/>
                </a:solidFill>
                <a:latin typeface="Inter Black" pitchFamily="34" charset="0"/>
                <a:ea typeface="Inter Black" pitchFamily="34" charset="-122"/>
                <a:cs typeface="Inter Black" pitchFamily="34" charset="-120"/>
              </a:rPr>
              <a:t>PHASE 01</a:t>
            </a:r>
            <a:endParaRPr lang="en-US" sz="700" dirty="0"/>
          </a:p>
        </p:txBody>
      </p:sp>
      <p:sp>
        <p:nvSpPr>
          <p:cNvPr id="6" name="Text 2"/>
          <p:cNvSpPr/>
          <p:nvPr/>
        </p:nvSpPr>
        <p:spPr>
          <a:xfrm>
            <a:off x="571500" y="2586038"/>
            <a:ext cx="2204349" cy="242888"/>
          </a:xfrm>
          <a:prstGeom prst="rect">
            <a:avLst/>
          </a:prstGeom>
          <a:noFill/>
          <a:ln/>
        </p:spPr>
        <p:txBody>
          <a:bodyPr wrap="square" lIns="0" tIns="0" rIns="0" bIns="0" rtlCol="0" anchor="t">
            <a:spAutoFit/>
          </a:bodyPr>
          <a:lstStyle/>
          <a:p>
            <a:pPr algn="l" indent="0" marL="0">
              <a:buNone/>
            </a:pPr>
            <a:r>
              <a:rPr lang="en-US" sz="1400" b="1" dirty="0">
                <a:solidFill>
                  <a:srgbClr val="FFFFFF"/>
                </a:solidFill>
                <a:latin typeface="Inter Black" pitchFamily="34" charset="0"/>
                <a:ea typeface="Inter Black" pitchFamily="34" charset="-122"/>
                <a:cs typeface="Inter Black" pitchFamily="34" charset="-120"/>
              </a:rPr>
              <a:t>Preprocessing</a:t>
            </a:r>
            <a:endParaRPr lang="en-US" sz="1400" dirty="0"/>
          </a:p>
        </p:txBody>
      </p:sp>
      <p:pic>
        <p:nvPicPr>
          <p:cNvPr id="7" name="Image 1" descr="preencoded.png">    </p:cNvPr>
          <p:cNvPicPr>
            <a:picLocks noChangeAspect="1"/>
          </p:cNvPicPr>
          <p:nvPr/>
        </p:nvPicPr>
        <p:blipFill>
          <a:blip r:embed="rId2"/>
          <a:stretch>
            <a:fillRect/>
          </a:stretch>
        </p:blipFill>
        <p:spPr>
          <a:xfrm>
            <a:off x="571500" y="3224678"/>
            <a:ext cx="100013" cy="100013"/>
          </a:xfrm>
          <a:prstGeom prst="rect">
            <a:avLst/>
          </a:prstGeom>
        </p:spPr>
      </p:pic>
      <p:sp>
        <p:nvSpPr>
          <p:cNvPr id="8" name="Text 3"/>
          <p:cNvSpPr/>
          <p:nvPr/>
        </p:nvSpPr>
        <p:spPr>
          <a:xfrm>
            <a:off x="757238" y="3043238"/>
            <a:ext cx="2018612" cy="462893"/>
          </a:xfrm>
          <a:prstGeom prst="rect">
            <a:avLst/>
          </a:prstGeom>
          <a:noFill/>
          <a:ln/>
        </p:spPr>
        <p:txBody>
          <a:bodyPr wrap="square" lIns="0" tIns="0" rIns="0" bIns="0" rtlCol="0" anchor="t">
            <a:spAutoFit/>
          </a:bodyPr>
          <a:lstStyle/>
          <a:p>
            <a:pPr algn="l" indent="0" marL="0">
              <a:lnSpc>
                <a:spcPct val="144000"/>
              </a:lnSpc>
              <a:buNone/>
            </a:pPr>
            <a:r>
              <a:rPr lang="en-US" sz="950" dirty="0">
                <a:solidFill>
                  <a:srgbClr val="94A3B8"/>
                </a:solidFill>
                <a:latin typeface="Inter Light" pitchFamily="34" charset="0"/>
                <a:ea typeface="Inter Light" pitchFamily="34" charset="-122"/>
                <a:cs typeface="Inter Light" pitchFamily="34" charset="-120"/>
              </a:rPr>
              <a:t>Label Encoding (Gender, Platform)</a:t>
            </a:r>
            <a:endParaRPr lang="en-US" sz="950" dirty="0"/>
          </a:p>
        </p:txBody>
      </p:sp>
      <p:pic>
        <p:nvPicPr>
          <p:cNvPr id="9" name="Image 2" descr="preencoded.png">    </p:cNvPr>
          <p:cNvPicPr>
            <a:picLocks noChangeAspect="1"/>
          </p:cNvPicPr>
          <p:nvPr/>
        </p:nvPicPr>
        <p:blipFill>
          <a:blip r:embed="rId3"/>
          <a:stretch>
            <a:fillRect/>
          </a:stretch>
        </p:blipFill>
        <p:spPr>
          <a:xfrm>
            <a:off x="571500" y="3643285"/>
            <a:ext cx="100013" cy="100013"/>
          </a:xfrm>
          <a:prstGeom prst="rect">
            <a:avLst/>
          </a:prstGeom>
        </p:spPr>
      </p:pic>
      <p:sp>
        <p:nvSpPr>
          <p:cNvPr id="10" name="Text 4"/>
          <p:cNvSpPr/>
          <p:nvPr/>
        </p:nvSpPr>
        <p:spPr>
          <a:xfrm>
            <a:off x="757238" y="3577568"/>
            <a:ext cx="1905595" cy="231446"/>
          </a:xfrm>
          <a:prstGeom prst="rect">
            <a:avLst/>
          </a:prstGeom>
          <a:noFill/>
          <a:ln/>
        </p:spPr>
        <p:txBody>
          <a:bodyPr wrap="none" lIns="0" tIns="0" rIns="0" bIns="0" rtlCol="0" anchor="t">
            <a:spAutoFit/>
          </a:bodyPr>
          <a:lstStyle/>
          <a:p>
            <a:pPr algn="l" indent="0" marL="0">
              <a:lnSpc>
                <a:spcPct val="144000"/>
              </a:lnSpc>
              <a:buNone/>
            </a:pPr>
            <a:r>
              <a:rPr lang="en-US" sz="950" dirty="0">
                <a:solidFill>
                  <a:srgbClr val="94A3B8"/>
                </a:solidFill>
                <a:latin typeface="Inter Light" pitchFamily="34" charset="0"/>
                <a:ea typeface="Inter Light" pitchFamily="34" charset="-122"/>
                <a:cs typeface="Inter Light" pitchFamily="34" charset="-120"/>
              </a:rPr>
              <a:t>Feature Scaling &amp; Normalization</a:t>
            </a:r>
            <a:endParaRPr lang="en-US" sz="950" dirty="0"/>
          </a:p>
        </p:txBody>
      </p:sp>
      <p:pic>
        <p:nvPicPr>
          <p:cNvPr id="11" name="Image 3" descr="preencoded.png">    </p:cNvPr>
          <p:cNvPicPr>
            <a:picLocks noChangeAspect="1"/>
          </p:cNvPicPr>
          <p:nvPr/>
        </p:nvPicPr>
        <p:blipFill>
          <a:blip r:embed="rId4"/>
          <a:stretch>
            <a:fillRect/>
          </a:stretch>
        </p:blipFill>
        <p:spPr>
          <a:xfrm>
            <a:off x="571500" y="3946168"/>
            <a:ext cx="100013" cy="100013"/>
          </a:xfrm>
          <a:prstGeom prst="rect">
            <a:avLst/>
          </a:prstGeom>
        </p:spPr>
      </p:pic>
      <p:sp>
        <p:nvSpPr>
          <p:cNvPr id="12" name="Text 5"/>
          <p:cNvSpPr/>
          <p:nvPr/>
        </p:nvSpPr>
        <p:spPr>
          <a:xfrm>
            <a:off x="757238" y="3880452"/>
            <a:ext cx="1548408" cy="231446"/>
          </a:xfrm>
          <a:prstGeom prst="rect">
            <a:avLst/>
          </a:prstGeom>
          <a:noFill/>
          <a:ln/>
        </p:spPr>
        <p:txBody>
          <a:bodyPr wrap="none" lIns="0" tIns="0" rIns="0" bIns="0" rtlCol="0" anchor="t">
            <a:spAutoFit/>
          </a:bodyPr>
          <a:lstStyle/>
          <a:p>
            <a:pPr algn="l" indent="0" marL="0">
              <a:lnSpc>
                <a:spcPct val="144000"/>
              </a:lnSpc>
              <a:buNone/>
            </a:pPr>
            <a:r>
              <a:rPr lang="en-US" sz="950" dirty="0">
                <a:solidFill>
                  <a:srgbClr val="94A3B8"/>
                </a:solidFill>
                <a:latin typeface="Inter Light" pitchFamily="34" charset="0"/>
                <a:ea typeface="Inter Light" pitchFamily="34" charset="-122"/>
                <a:cs typeface="Inter Light" pitchFamily="34" charset="-120"/>
              </a:rPr>
              <a:t>Handling Class Imbalance</a:t>
            </a:r>
            <a:endParaRPr lang="en-US" sz="950" dirty="0"/>
          </a:p>
        </p:txBody>
      </p:sp>
      <p:sp>
        <p:nvSpPr>
          <p:cNvPr id="13" name="Text 6"/>
          <p:cNvSpPr/>
          <p:nvPr/>
        </p:nvSpPr>
        <p:spPr>
          <a:xfrm>
            <a:off x="3204474" y="2393156"/>
            <a:ext cx="2204349" cy="121444"/>
          </a:xfrm>
          <a:prstGeom prst="rect">
            <a:avLst/>
          </a:prstGeom>
          <a:noFill/>
          <a:ln/>
        </p:spPr>
        <p:txBody>
          <a:bodyPr wrap="square" lIns="0" tIns="0" rIns="0" bIns="0" rtlCol="0" anchor="t">
            <a:spAutoFit/>
          </a:bodyPr>
          <a:lstStyle/>
          <a:p>
            <a:pPr algn="l" indent="0" marL="0">
              <a:buNone/>
            </a:pPr>
            <a:r>
              <a:rPr lang="en-US" sz="700" b="1" spc="2" kern="0" dirty="0">
                <a:solidFill>
                  <a:srgbClr val="64748B"/>
                </a:solidFill>
                <a:latin typeface="Inter Black" pitchFamily="34" charset="0"/>
                <a:ea typeface="Inter Black" pitchFamily="34" charset="-122"/>
                <a:cs typeface="Inter Black" pitchFamily="34" charset="-120"/>
              </a:rPr>
              <a:t>PHASE 02</a:t>
            </a:r>
            <a:endParaRPr lang="en-US" sz="700" dirty="0"/>
          </a:p>
        </p:txBody>
      </p:sp>
      <p:sp>
        <p:nvSpPr>
          <p:cNvPr id="14" name="Text 7"/>
          <p:cNvSpPr/>
          <p:nvPr/>
        </p:nvSpPr>
        <p:spPr>
          <a:xfrm>
            <a:off x="3204474" y="2586038"/>
            <a:ext cx="2204349" cy="242888"/>
          </a:xfrm>
          <a:prstGeom prst="rect">
            <a:avLst/>
          </a:prstGeom>
          <a:noFill/>
          <a:ln/>
        </p:spPr>
        <p:txBody>
          <a:bodyPr wrap="square" lIns="0" tIns="0" rIns="0" bIns="0" rtlCol="0" anchor="t">
            <a:spAutoFit/>
          </a:bodyPr>
          <a:lstStyle/>
          <a:p>
            <a:pPr algn="l" indent="0" marL="0">
              <a:buNone/>
            </a:pPr>
            <a:r>
              <a:rPr lang="en-US" sz="1400" b="1" dirty="0">
                <a:solidFill>
                  <a:srgbClr val="FFFFFF"/>
                </a:solidFill>
                <a:latin typeface="Inter Black" pitchFamily="34" charset="0"/>
                <a:ea typeface="Inter Black" pitchFamily="34" charset="-122"/>
                <a:cs typeface="Inter Black" pitchFamily="34" charset="-120"/>
              </a:rPr>
              <a:t>Validation</a:t>
            </a:r>
            <a:endParaRPr lang="en-US" sz="1400" dirty="0"/>
          </a:p>
        </p:txBody>
      </p:sp>
      <p:pic>
        <p:nvPicPr>
          <p:cNvPr id="15" name="Image 4" descr="preencoded.png">    </p:cNvPr>
          <p:cNvPicPr>
            <a:picLocks noChangeAspect="1"/>
          </p:cNvPicPr>
          <p:nvPr/>
        </p:nvPicPr>
        <p:blipFill>
          <a:blip r:embed="rId5"/>
          <a:stretch>
            <a:fillRect/>
          </a:stretch>
        </p:blipFill>
        <p:spPr>
          <a:xfrm>
            <a:off x="3204474" y="3108954"/>
            <a:ext cx="100013" cy="100013"/>
          </a:xfrm>
          <a:prstGeom prst="rect">
            <a:avLst/>
          </a:prstGeom>
        </p:spPr>
      </p:pic>
      <p:sp>
        <p:nvSpPr>
          <p:cNvPr id="16" name="Text 8"/>
          <p:cNvSpPr/>
          <p:nvPr/>
        </p:nvSpPr>
        <p:spPr>
          <a:xfrm>
            <a:off x="3390212" y="3043238"/>
            <a:ext cx="1285875" cy="231446"/>
          </a:xfrm>
          <a:prstGeom prst="rect">
            <a:avLst/>
          </a:prstGeom>
          <a:noFill/>
          <a:ln/>
        </p:spPr>
        <p:txBody>
          <a:bodyPr wrap="none" lIns="0" tIns="0" rIns="0" bIns="0" rtlCol="0" anchor="t">
            <a:spAutoFit/>
          </a:bodyPr>
          <a:lstStyle/>
          <a:p>
            <a:pPr algn="l" indent="0" marL="0">
              <a:lnSpc>
                <a:spcPct val="144000"/>
              </a:lnSpc>
              <a:buNone/>
            </a:pPr>
            <a:r>
              <a:rPr lang="en-US" sz="950" dirty="0">
                <a:solidFill>
                  <a:srgbClr val="94A3B8"/>
                </a:solidFill>
                <a:latin typeface="Inter Light" pitchFamily="34" charset="0"/>
                <a:ea typeface="Inter Light" pitchFamily="34" charset="-122"/>
                <a:cs typeface="Inter Light" pitchFamily="34" charset="-120"/>
              </a:rPr>
              <a:t>80/20 Train-Test Split</a:t>
            </a:r>
            <a:endParaRPr lang="en-US" sz="950" dirty="0"/>
          </a:p>
        </p:txBody>
      </p:sp>
      <p:pic>
        <p:nvPicPr>
          <p:cNvPr id="17" name="Image 5" descr="preencoded.png">    </p:cNvPr>
          <p:cNvPicPr>
            <a:picLocks noChangeAspect="1"/>
          </p:cNvPicPr>
          <p:nvPr/>
        </p:nvPicPr>
        <p:blipFill>
          <a:blip r:embed="rId6"/>
          <a:stretch>
            <a:fillRect/>
          </a:stretch>
        </p:blipFill>
        <p:spPr>
          <a:xfrm>
            <a:off x="3204474" y="3411838"/>
            <a:ext cx="100013" cy="100013"/>
          </a:xfrm>
          <a:prstGeom prst="rect">
            <a:avLst/>
          </a:prstGeom>
        </p:spPr>
      </p:pic>
      <p:sp>
        <p:nvSpPr>
          <p:cNvPr id="18" name="Text 9"/>
          <p:cNvSpPr/>
          <p:nvPr/>
        </p:nvSpPr>
        <p:spPr>
          <a:xfrm>
            <a:off x="3390212" y="3346121"/>
            <a:ext cx="1123355" cy="231446"/>
          </a:xfrm>
          <a:prstGeom prst="rect">
            <a:avLst/>
          </a:prstGeom>
          <a:noFill/>
          <a:ln/>
        </p:spPr>
        <p:txBody>
          <a:bodyPr wrap="none" lIns="0" tIns="0" rIns="0" bIns="0" rtlCol="0" anchor="t">
            <a:spAutoFit/>
          </a:bodyPr>
          <a:lstStyle/>
          <a:p>
            <a:pPr algn="l" indent="0" marL="0">
              <a:lnSpc>
                <a:spcPct val="144000"/>
              </a:lnSpc>
              <a:buNone/>
            </a:pPr>
            <a:r>
              <a:rPr lang="en-US" sz="950" dirty="0">
                <a:solidFill>
                  <a:srgbClr val="94A3B8"/>
                </a:solidFill>
                <a:latin typeface="Inter Light" pitchFamily="34" charset="0"/>
                <a:ea typeface="Inter Light" pitchFamily="34" charset="-122"/>
                <a:cs typeface="Inter Light" pitchFamily="34" charset="-120"/>
              </a:rPr>
              <a:t>Stratified Sampling</a:t>
            </a:r>
            <a:endParaRPr lang="en-US" sz="950" dirty="0"/>
          </a:p>
        </p:txBody>
      </p:sp>
      <p:pic>
        <p:nvPicPr>
          <p:cNvPr id="19" name="Image 6" descr="preencoded.png">    </p:cNvPr>
          <p:cNvPicPr>
            <a:picLocks noChangeAspect="1"/>
          </p:cNvPicPr>
          <p:nvPr/>
        </p:nvPicPr>
        <p:blipFill>
          <a:blip r:embed="rId7"/>
          <a:stretch>
            <a:fillRect/>
          </a:stretch>
        </p:blipFill>
        <p:spPr>
          <a:xfrm>
            <a:off x="3204474" y="3714722"/>
            <a:ext cx="100013" cy="100013"/>
          </a:xfrm>
          <a:prstGeom prst="rect">
            <a:avLst/>
          </a:prstGeom>
        </p:spPr>
      </p:pic>
      <p:sp>
        <p:nvSpPr>
          <p:cNvPr id="20" name="Text 10"/>
          <p:cNvSpPr/>
          <p:nvPr/>
        </p:nvSpPr>
        <p:spPr>
          <a:xfrm>
            <a:off x="3390212" y="3649005"/>
            <a:ext cx="1471613" cy="231446"/>
          </a:xfrm>
          <a:prstGeom prst="rect">
            <a:avLst/>
          </a:prstGeom>
          <a:noFill/>
          <a:ln/>
        </p:spPr>
        <p:txBody>
          <a:bodyPr wrap="none" lIns="0" tIns="0" rIns="0" bIns="0" rtlCol="0" anchor="t">
            <a:spAutoFit/>
          </a:bodyPr>
          <a:lstStyle/>
          <a:p>
            <a:pPr algn="l" indent="0" marL="0">
              <a:lnSpc>
                <a:spcPct val="144000"/>
              </a:lnSpc>
              <a:buNone/>
            </a:pPr>
            <a:r>
              <a:rPr lang="en-US" sz="950" dirty="0">
                <a:solidFill>
                  <a:srgbClr val="94A3B8"/>
                </a:solidFill>
                <a:latin typeface="Inter Light" pitchFamily="34" charset="0"/>
                <a:ea typeface="Inter Light" pitchFamily="34" charset="-122"/>
                <a:cs typeface="Inter Light" pitchFamily="34" charset="-120"/>
              </a:rPr>
              <a:t>Cross-Validation Scoring</a:t>
            </a:r>
            <a:endParaRPr lang="en-US" sz="950" dirty="0"/>
          </a:p>
        </p:txBody>
      </p:sp>
      <p:sp>
        <p:nvSpPr>
          <p:cNvPr id="21" name="Text 11"/>
          <p:cNvSpPr/>
          <p:nvPr/>
        </p:nvSpPr>
        <p:spPr>
          <a:xfrm>
            <a:off x="5837448" y="2393156"/>
            <a:ext cx="3306524" cy="121444"/>
          </a:xfrm>
          <a:prstGeom prst="rect">
            <a:avLst/>
          </a:prstGeom>
          <a:noFill/>
          <a:ln/>
        </p:spPr>
        <p:txBody>
          <a:bodyPr wrap="square" lIns="0" tIns="0" rIns="0" bIns="0" rtlCol="0" anchor="t">
            <a:spAutoFit/>
          </a:bodyPr>
          <a:lstStyle/>
          <a:p>
            <a:pPr algn="l" indent="0" marL="0">
              <a:buNone/>
            </a:pPr>
            <a:r>
              <a:rPr lang="en-US" sz="700" b="1" spc="2" kern="0" dirty="0">
                <a:solidFill>
                  <a:srgbClr val="64748B"/>
                </a:solidFill>
                <a:latin typeface="Inter Black" pitchFamily="34" charset="0"/>
                <a:ea typeface="Inter Black" pitchFamily="34" charset="-122"/>
                <a:cs typeface="Inter Black" pitchFamily="34" charset="-120"/>
              </a:rPr>
              <a:t>PHASE 03</a:t>
            </a:r>
            <a:endParaRPr lang="en-US" sz="700" dirty="0"/>
          </a:p>
        </p:txBody>
      </p:sp>
      <p:sp>
        <p:nvSpPr>
          <p:cNvPr id="22" name="Text 12"/>
          <p:cNvSpPr/>
          <p:nvPr/>
        </p:nvSpPr>
        <p:spPr>
          <a:xfrm>
            <a:off x="5837448" y="2586038"/>
            <a:ext cx="3306524" cy="242888"/>
          </a:xfrm>
          <a:prstGeom prst="rect">
            <a:avLst/>
          </a:prstGeom>
          <a:noFill/>
          <a:ln/>
        </p:spPr>
        <p:txBody>
          <a:bodyPr wrap="square" lIns="0" tIns="0" rIns="0" bIns="0" rtlCol="0" anchor="t">
            <a:spAutoFit/>
          </a:bodyPr>
          <a:lstStyle/>
          <a:p>
            <a:pPr algn="l" indent="0" marL="0">
              <a:buNone/>
            </a:pPr>
            <a:r>
              <a:rPr lang="en-US" sz="1400" b="1" dirty="0">
                <a:solidFill>
                  <a:srgbClr val="FFFFFF"/>
                </a:solidFill>
                <a:latin typeface="Inter Black" pitchFamily="34" charset="0"/>
                <a:ea typeface="Inter Black" pitchFamily="34" charset="-122"/>
                <a:cs typeface="Inter Black" pitchFamily="34" charset="-120"/>
              </a:rPr>
              <a:t>Model Suite</a:t>
            </a:r>
            <a:endParaRPr lang="en-US" sz="1400" dirty="0"/>
          </a:p>
        </p:txBody>
      </p:sp>
      <p:sp>
        <p:nvSpPr>
          <p:cNvPr id="23" name="Shape 13"/>
          <p:cNvSpPr/>
          <p:nvPr/>
        </p:nvSpPr>
        <p:spPr>
          <a:xfrm>
            <a:off x="5837448" y="3043238"/>
            <a:ext cx="1581810" cy="308967"/>
          </a:xfrm>
          <a:prstGeom prst="rect">
            <a:avLst/>
          </a:prstGeom>
          <a:solidFill>
            <a:srgbClr val="94A3B8">
              <a:alpha val="5000"/>
            </a:srgbClr>
          </a:solidFill>
          <a:ln/>
        </p:spPr>
      </p:sp>
      <p:sp>
        <p:nvSpPr>
          <p:cNvPr id="24" name="Shape 14"/>
          <p:cNvSpPr/>
          <p:nvPr/>
        </p:nvSpPr>
        <p:spPr>
          <a:xfrm>
            <a:off x="5837448" y="3043238"/>
            <a:ext cx="21431" cy="308967"/>
          </a:xfrm>
          <a:prstGeom prst="rect">
            <a:avLst/>
          </a:prstGeom>
          <a:solidFill>
            <a:srgbClr val="818CF8"/>
          </a:solidFill>
          <a:ln/>
        </p:spPr>
      </p:sp>
      <p:sp>
        <p:nvSpPr>
          <p:cNvPr id="25" name="Text 15"/>
          <p:cNvSpPr/>
          <p:nvPr/>
        </p:nvSpPr>
        <p:spPr>
          <a:xfrm>
            <a:off x="5837448" y="3043238"/>
            <a:ext cx="1581810" cy="308967"/>
          </a:xfrm>
          <a:prstGeom prst="rect">
            <a:avLst/>
          </a:prstGeom>
          <a:noFill/>
          <a:ln/>
        </p:spPr>
        <p:txBody>
          <a:bodyPr wrap="square" lIns="127508" tIns="102108" rIns="127508" bIns="102108" rtlCol="0" anchor="t">
            <a:spAutoFit/>
          </a:bodyPr>
          <a:lstStyle/>
          <a:p>
            <a:pPr algn="l" indent="0" marL="0">
              <a:buNone/>
            </a:pPr>
            <a:r>
              <a:rPr lang="en-US" sz="800" b="1" dirty="0">
                <a:solidFill>
                  <a:srgbClr val="94A3B8"/>
                </a:solidFill>
                <a:latin typeface="Inter Black" pitchFamily="34" charset="0"/>
                <a:ea typeface="Inter Black" pitchFamily="34" charset="-122"/>
                <a:cs typeface="Inter Black" pitchFamily="34" charset="-120"/>
              </a:rPr>
              <a:t>Logistic Regression</a:t>
            </a:r>
            <a:endParaRPr lang="en-US" sz="800" dirty="0"/>
          </a:p>
        </p:txBody>
      </p:sp>
      <p:sp>
        <p:nvSpPr>
          <p:cNvPr id="26" name="Shape 16"/>
          <p:cNvSpPr/>
          <p:nvPr/>
        </p:nvSpPr>
        <p:spPr>
          <a:xfrm>
            <a:off x="7562134" y="3043238"/>
            <a:ext cx="1581838" cy="308967"/>
          </a:xfrm>
          <a:prstGeom prst="rect">
            <a:avLst/>
          </a:prstGeom>
          <a:solidFill>
            <a:srgbClr val="94A3B8">
              <a:alpha val="5000"/>
            </a:srgbClr>
          </a:solidFill>
          <a:ln/>
        </p:spPr>
      </p:sp>
      <p:sp>
        <p:nvSpPr>
          <p:cNvPr id="27" name="Shape 17"/>
          <p:cNvSpPr/>
          <p:nvPr/>
        </p:nvSpPr>
        <p:spPr>
          <a:xfrm>
            <a:off x="7562134" y="3043238"/>
            <a:ext cx="21431" cy="308967"/>
          </a:xfrm>
          <a:prstGeom prst="rect">
            <a:avLst/>
          </a:prstGeom>
          <a:solidFill>
            <a:srgbClr val="818CF8"/>
          </a:solidFill>
          <a:ln/>
        </p:spPr>
      </p:sp>
      <p:sp>
        <p:nvSpPr>
          <p:cNvPr id="28" name="Text 18"/>
          <p:cNvSpPr/>
          <p:nvPr/>
        </p:nvSpPr>
        <p:spPr>
          <a:xfrm>
            <a:off x="7562134" y="3043238"/>
            <a:ext cx="1581838" cy="308967"/>
          </a:xfrm>
          <a:prstGeom prst="rect">
            <a:avLst/>
          </a:prstGeom>
          <a:noFill/>
          <a:ln/>
        </p:spPr>
        <p:txBody>
          <a:bodyPr wrap="square" lIns="127508" tIns="102108" rIns="127508" bIns="102108" rtlCol="0" anchor="t">
            <a:spAutoFit/>
          </a:bodyPr>
          <a:lstStyle/>
          <a:p>
            <a:pPr algn="l" indent="0" marL="0">
              <a:buNone/>
            </a:pPr>
            <a:r>
              <a:rPr lang="en-US" sz="800" b="1" dirty="0">
                <a:solidFill>
                  <a:srgbClr val="94A3B8"/>
                </a:solidFill>
                <a:latin typeface="Inter Black" pitchFamily="34" charset="0"/>
                <a:ea typeface="Inter Black" pitchFamily="34" charset="-122"/>
                <a:cs typeface="Inter Black" pitchFamily="34" charset="-120"/>
              </a:rPr>
              <a:t>Random Forest</a:t>
            </a:r>
            <a:endParaRPr lang="en-US" sz="800" dirty="0"/>
          </a:p>
        </p:txBody>
      </p:sp>
      <p:sp>
        <p:nvSpPr>
          <p:cNvPr id="29" name="Shape 19"/>
          <p:cNvSpPr/>
          <p:nvPr/>
        </p:nvSpPr>
        <p:spPr>
          <a:xfrm>
            <a:off x="5837448" y="3495080"/>
            <a:ext cx="1581810" cy="308967"/>
          </a:xfrm>
          <a:prstGeom prst="rect">
            <a:avLst/>
          </a:prstGeom>
          <a:solidFill>
            <a:srgbClr val="94A3B8">
              <a:alpha val="5000"/>
            </a:srgbClr>
          </a:solidFill>
          <a:ln/>
        </p:spPr>
      </p:sp>
      <p:sp>
        <p:nvSpPr>
          <p:cNvPr id="30" name="Shape 20"/>
          <p:cNvSpPr/>
          <p:nvPr/>
        </p:nvSpPr>
        <p:spPr>
          <a:xfrm>
            <a:off x="5837448" y="3495080"/>
            <a:ext cx="21431" cy="308967"/>
          </a:xfrm>
          <a:prstGeom prst="rect">
            <a:avLst/>
          </a:prstGeom>
          <a:solidFill>
            <a:srgbClr val="818CF8"/>
          </a:solidFill>
          <a:ln/>
        </p:spPr>
      </p:sp>
      <p:sp>
        <p:nvSpPr>
          <p:cNvPr id="31" name="Text 21"/>
          <p:cNvSpPr/>
          <p:nvPr/>
        </p:nvSpPr>
        <p:spPr>
          <a:xfrm>
            <a:off x="5837448" y="3495080"/>
            <a:ext cx="1581810" cy="308967"/>
          </a:xfrm>
          <a:prstGeom prst="rect">
            <a:avLst/>
          </a:prstGeom>
          <a:noFill/>
          <a:ln/>
        </p:spPr>
        <p:txBody>
          <a:bodyPr wrap="square" lIns="127508" tIns="102108" rIns="127508" bIns="102108" rtlCol="0" anchor="t">
            <a:spAutoFit/>
          </a:bodyPr>
          <a:lstStyle/>
          <a:p>
            <a:pPr algn="l" indent="0" marL="0">
              <a:buNone/>
            </a:pPr>
            <a:r>
              <a:rPr lang="en-US" sz="800" b="1" dirty="0">
                <a:solidFill>
                  <a:srgbClr val="94A3B8"/>
                </a:solidFill>
                <a:latin typeface="Inter Black" pitchFamily="34" charset="0"/>
                <a:ea typeface="Inter Black" pitchFamily="34" charset="-122"/>
                <a:cs typeface="Inter Black" pitchFamily="34" charset="-120"/>
              </a:rPr>
              <a:t>Decision Trees</a:t>
            </a:r>
            <a:endParaRPr lang="en-US" sz="800" dirty="0"/>
          </a:p>
        </p:txBody>
      </p:sp>
      <p:sp>
        <p:nvSpPr>
          <p:cNvPr id="32" name="Shape 22"/>
          <p:cNvSpPr/>
          <p:nvPr/>
        </p:nvSpPr>
        <p:spPr>
          <a:xfrm>
            <a:off x="7562134" y="3495080"/>
            <a:ext cx="1581838" cy="308967"/>
          </a:xfrm>
          <a:prstGeom prst="rect">
            <a:avLst/>
          </a:prstGeom>
          <a:solidFill>
            <a:srgbClr val="22D3EE">
              <a:alpha val="10000"/>
            </a:srgbClr>
          </a:solidFill>
          <a:ln/>
        </p:spPr>
      </p:sp>
      <p:sp>
        <p:nvSpPr>
          <p:cNvPr id="33" name="Shape 23"/>
          <p:cNvSpPr/>
          <p:nvPr/>
        </p:nvSpPr>
        <p:spPr>
          <a:xfrm>
            <a:off x="7562134" y="3495080"/>
            <a:ext cx="21431" cy="308967"/>
          </a:xfrm>
          <a:prstGeom prst="rect">
            <a:avLst/>
          </a:prstGeom>
          <a:solidFill>
            <a:srgbClr val="22D3EE"/>
          </a:solidFill>
          <a:ln/>
        </p:spPr>
      </p:sp>
      <p:sp>
        <p:nvSpPr>
          <p:cNvPr id="34" name="Text 24"/>
          <p:cNvSpPr/>
          <p:nvPr/>
        </p:nvSpPr>
        <p:spPr>
          <a:xfrm>
            <a:off x="7562134" y="3495080"/>
            <a:ext cx="1581838" cy="308967"/>
          </a:xfrm>
          <a:prstGeom prst="rect">
            <a:avLst/>
          </a:prstGeom>
          <a:noFill/>
          <a:ln/>
        </p:spPr>
        <p:txBody>
          <a:bodyPr wrap="square" lIns="127508" tIns="102108" rIns="127508" bIns="102108" rtlCol="0" anchor="t">
            <a:spAutoFit/>
          </a:bodyPr>
          <a:lstStyle/>
          <a:p>
            <a:pPr algn="l" indent="0" marL="0">
              <a:buNone/>
            </a:pPr>
            <a:r>
              <a:rPr lang="en-US" sz="800" b="1" dirty="0">
                <a:solidFill>
                  <a:srgbClr val="FFFFFF"/>
                </a:solidFill>
                <a:latin typeface="Inter Black" pitchFamily="34" charset="0"/>
                <a:ea typeface="Inter Black" pitchFamily="34" charset="-122"/>
                <a:cs typeface="Inter Black" pitchFamily="34" charset="-120"/>
              </a:rPr>
              <a:t>XGBoost Classifier</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9144000" cy="553641"/>
          </a:xfrm>
          <a:prstGeom prst="rect">
            <a:avLst/>
          </a:prstGeom>
          <a:noFill/>
          <a:ln/>
        </p:spPr>
        <p:txBody>
          <a:bodyPr wrap="square" lIns="0" tIns="0" rIns="0" bIns="0" rtlCol="0" anchor="t">
            <a:spAutoFit/>
          </a:bodyPr>
          <a:lstStyle/>
          <a:p>
            <a:pPr algn="l" indent="0" marL="0">
              <a:buNone/>
            </a:pPr>
            <a:r>
              <a:rPr lang="en-US" sz="3300" b="1" dirty="0">
                <a:solidFill>
                  <a:srgbClr val="FFFFFF"/>
                </a:solidFill>
                <a:latin typeface="Inter Black" pitchFamily="34" charset="0"/>
                <a:ea typeface="Inter Black" pitchFamily="34" charset="-122"/>
                <a:cs typeface="Inter Black" pitchFamily="34" charset="-120"/>
              </a:rPr>
              <a:t>Unrivaled Accuracy in Prediction</a:t>
            </a:r>
            <a:endParaRPr lang="en-US" sz="3300" dirty="0"/>
          </a:p>
        </p:txBody>
      </p:sp>
      <p:pic>
        <p:nvPicPr>
          <p:cNvPr id="5" name="Image 1" descr="preencoded.png">    </p:cNvPr>
          <p:cNvPicPr>
            <a:picLocks noChangeAspect="1"/>
          </p:cNvPicPr>
          <p:nvPr/>
        </p:nvPicPr>
        <p:blipFill>
          <a:blip r:embed="rId2"/>
          <a:stretch>
            <a:fillRect/>
          </a:stretch>
        </p:blipFill>
        <p:spPr>
          <a:xfrm>
            <a:off x="571500" y="1714500"/>
            <a:ext cx="5000625" cy="2857500"/>
          </a:xfrm>
          <a:prstGeom prst="rect">
            <a:avLst/>
          </a:prstGeom>
        </p:spPr>
      </p:pic>
      <p:sp>
        <p:nvSpPr>
          <p:cNvPr id="6" name="Shape 1"/>
          <p:cNvSpPr/>
          <p:nvPr/>
        </p:nvSpPr>
        <p:spPr>
          <a:xfrm>
            <a:off x="5857875" y="1714500"/>
            <a:ext cx="2714625" cy="751880"/>
          </a:xfrm>
          <a:prstGeom prst="rect">
            <a:avLst/>
          </a:prstGeom>
          <a:solidFill>
            <a:srgbClr val="000000">
              <a:alpha val="0"/>
            </a:srgbClr>
          </a:solidFill>
          <a:ln/>
        </p:spPr>
      </p:sp>
      <p:sp>
        <p:nvSpPr>
          <p:cNvPr id="7" name="Shape 2"/>
          <p:cNvSpPr/>
          <p:nvPr/>
        </p:nvSpPr>
        <p:spPr>
          <a:xfrm>
            <a:off x="5857875" y="1714500"/>
            <a:ext cx="2714625" cy="21431"/>
          </a:xfrm>
          <a:prstGeom prst="rect">
            <a:avLst/>
          </a:prstGeom>
          <a:solidFill>
            <a:srgbClr val="22D3EE"/>
          </a:solidFill>
          <a:ln/>
        </p:spPr>
      </p:sp>
      <p:sp>
        <p:nvSpPr>
          <p:cNvPr id="8" name="Text 3"/>
          <p:cNvSpPr/>
          <p:nvPr/>
        </p:nvSpPr>
        <p:spPr>
          <a:xfrm>
            <a:off x="5857875" y="1857375"/>
            <a:ext cx="2714625" cy="414338"/>
          </a:xfrm>
          <a:prstGeom prst="rect">
            <a:avLst/>
          </a:prstGeom>
          <a:noFill/>
          <a:ln/>
        </p:spPr>
        <p:txBody>
          <a:bodyPr wrap="square" lIns="0" tIns="0" rIns="0" bIns="0" rtlCol="0" anchor="t">
            <a:spAutoFit/>
          </a:bodyPr>
          <a:lstStyle/>
          <a:p>
            <a:pPr algn="l" indent="0" marL="0">
              <a:buNone/>
            </a:pPr>
            <a:r>
              <a:rPr lang="en-US" sz="2450" b="1" dirty="0">
                <a:solidFill>
                  <a:srgbClr val="22D3EE"/>
                </a:solidFill>
                <a:latin typeface="Inter Black" pitchFamily="34" charset="0"/>
                <a:ea typeface="Inter Black" pitchFamily="34" charset="-122"/>
                <a:cs typeface="Inter Black" pitchFamily="34" charset="-120"/>
              </a:rPr>
              <a:t>99.58%</a:t>
            </a:r>
            <a:endParaRPr lang="en-US" sz="2450" dirty="0"/>
          </a:p>
        </p:txBody>
      </p:sp>
      <p:sp>
        <p:nvSpPr>
          <p:cNvPr id="9" name="Text 4"/>
          <p:cNvSpPr/>
          <p:nvPr/>
        </p:nvSpPr>
        <p:spPr>
          <a:xfrm>
            <a:off x="5857875" y="2271713"/>
            <a:ext cx="2714625" cy="173236"/>
          </a:xfrm>
          <a:prstGeom prst="rect">
            <a:avLst/>
          </a:prstGeom>
          <a:noFill/>
          <a:ln/>
        </p:spPr>
        <p:txBody>
          <a:bodyPr wrap="square" lIns="0" tIns="0" rIns="0" bIns="0" rtlCol="0" anchor="t">
            <a:spAutoFit/>
          </a:bodyPr>
          <a:lstStyle/>
          <a:p>
            <a:pPr algn="l" indent="0" marL="0">
              <a:buNone/>
            </a:pPr>
            <a:r>
              <a:rPr lang="en-US" sz="1050" spc="2" kern="0" dirty="0">
                <a:solidFill>
                  <a:srgbClr val="64748B"/>
                </a:solidFill>
                <a:latin typeface="Inter Light" pitchFamily="34" charset="0"/>
                <a:ea typeface="Inter Light" pitchFamily="34" charset="-122"/>
                <a:cs typeface="Inter Light" pitchFamily="34" charset="-120"/>
              </a:rPr>
              <a:t>PEAK MODEL ACCURACY</a:t>
            </a:r>
            <a:endParaRPr lang="en-US" sz="1050" dirty="0"/>
          </a:p>
        </p:txBody>
      </p:sp>
      <p:sp>
        <p:nvSpPr>
          <p:cNvPr id="10" name="Text 5"/>
          <p:cNvSpPr/>
          <p:nvPr/>
        </p:nvSpPr>
        <p:spPr>
          <a:xfrm>
            <a:off x="5857875" y="2873573"/>
            <a:ext cx="1711207" cy="219670"/>
          </a:xfrm>
          <a:prstGeom prst="rect">
            <a:avLst/>
          </a:prstGeom>
          <a:noFill/>
          <a:ln/>
        </p:spPr>
        <p:txBody>
          <a:bodyPr wrap="square" lIns="8509" tIns="85090" rIns="8509" bIns="8509" rtlCol="0" anchor="ctr">
            <a:spAutoFit/>
          </a:bodyPr>
          <a:lstStyle/>
          <a:p>
            <a:pPr algn="l" indent="0" marL="0">
              <a:buNone/>
            </a:pPr>
            <a:r>
              <a:rPr lang="en-US" sz="800" b="1" dirty="0">
                <a:solidFill>
                  <a:srgbClr val="FFFFFF"/>
                </a:solidFill>
                <a:latin typeface="Inter Black" pitchFamily="34" charset="0"/>
                <a:ea typeface="Inter Black" pitchFamily="34" charset="-122"/>
                <a:cs typeface="Inter Black" pitchFamily="34" charset="-120"/>
              </a:rPr>
              <a:t>ALGORITHM</a:t>
            </a:r>
            <a:endParaRPr lang="en-US" sz="800" dirty="0"/>
          </a:p>
        </p:txBody>
      </p:sp>
      <p:sp>
        <p:nvSpPr>
          <p:cNvPr id="11" name="Text 6"/>
          <p:cNvSpPr/>
          <p:nvPr/>
        </p:nvSpPr>
        <p:spPr>
          <a:xfrm>
            <a:off x="7569082" y="2873573"/>
            <a:ext cx="1003418" cy="219670"/>
          </a:xfrm>
          <a:prstGeom prst="rect">
            <a:avLst/>
          </a:prstGeom>
          <a:noFill/>
          <a:ln/>
        </p:spPr>
        <p:txBody>
          <a:bodyPr wrap="none" lIns="8509" tIns="85090" rIns="8509" bIns="8509" rtlCol="0" anchor="ctr">
            <a:spAutoFit/>
          </a:bodyPr>
          <a:lstStyle/>
          <a:p>
            <a:pPr algn="l" indent="0" marL="0">
              <a:buNone/>
            </a:pPr>
            <a:r>
              <a:rPr lang="en-US" sz="800" b="1" dirty="0">
                <a:solidFill>
                  <a:srgbClr val="FFFFFF"/>
                </a:solidFill>
                <a:latin typeface="Inter Black" pitchFamily="34" charset="0"/>
                <a:ea typeface="Inter Black" pitchFamily="34" charset="-122"/>
                <a:cs typeface="Inter Black" pitchFamily="34" charset="-120"/>
              </a:rPr>
              <a:t>ACCURACY</a:t>
            </a:r>
            <a:endParaRPr lang="en-US" sz="800" dirty="0"/>
          </a:p>
        </p:txBody>
      </p:sp>
      <p:sp>
        <p:nvSpPr>
          <p:cNvPr id="12" name="Text 7"/>
          <p:cNvSpPr/>
          <p:nvPr/>
        </p:nvSpPr>
        <p:spPr>
          <a:xfrm>
            <a:off x="5857875" y="3093244"/>
            <a:ext cx="1711207" cy="255389"/>
          </a:xfrm>
          <a:prstGeom prst="rect">
            <a:avLst/>
          </a:prstGeom>
          <a:noFill/>
          <a:ln/>
        </p:spPr>
        <p:txBody>
          <a:bodyPr wrap="square" lIns="8509" tIns="102108" rIns="8509" bIns="8509" rtlCol="0" anchor="ctr">
            <a:spAutoFit/>
          </a:bodyPr>
          <a:lstStyle/>
          <a:p>
            <a:pPr algn="l" indent="0" marL="0">
              <a:buNone/>
            </a:pPr>
            <a:r>
              <a:rPr lang="en-US" sz="950" dirty="0">
                <a:solidFill>
                  <a:srgbClr val="22D3EE"/>
                </a:solidFill>
                <a:latin typeface="Inter Light" pitchFamily="34" charset="0"/>
                <a:ea typeface="Inter Light" pitchFamily="34" charset="-122"/>
                <a:cs typeface="Inter Light" pitchFamily="34" charset="-120"/>
              </a:rPr>
              <a:t>XGBClassifier</a:t>
            </a:r>
            <a:endParaRPr lang="en-US" sz="950" dirty="0"/>
          </a:p>
        </p:txBody>
      </p:sp>
      <p:sp>
        <p:nvSpPr>
          <p:cNvPr id="13" name="Text 8"/>
          <p:cNvSpPr/>
          <p:nvPr/>
        </p:nvSpPr>
        <p:spPr>
          <a:xfrm>
            <a:off x="7569082" y="3093244"/>
            <a:ext cx="1003418" cy="255389"/>
          </a:xfrm>
          <a:prstGeom prst="rect">
            <a:avLst/>
          </a:prstGeom>
          <a:noFill/>
          <a:ln/>
        </p:spPr>
        <p:txBody>
          <a:bodyPr wrap="none" lIns="8509" tIns="102108" rIns="8509" bIns="8509" rtlCol="0" anchor="ctr">
            <a:spAutoFit/>
          </a:bodyPr>
          <a:lstStyle/>
          <a:p>
            <a:pPr algn="l" indent="0" marL="0">
              <a:buNone/>
            </a:pPr>
            <a:r>
              <a:rPr lang="en-US" sz="950" dirty="0">
                <a:solidFill>
                  <a:srgbClr val="22D3EE"/>
                </a:solidFill>
                <a:latin typeface="Inter Light" pitchFamily="34" charset="0"/>
                <a:ea typeface="Inter Light" pitchFamily="34" charset="-122"/>
                <a:cs typeface="Inter Light" pitchFamily="34" charset="-120"/>
              </a:rPr>
              <a:t>99.58%</a:t>
            </a:r>
            <a:endParaRPr lang="en-US" sz="950" dirty="0"/>
          </a:p>
        </p:txBody>
      </p:sp>
      <p:sp>
        <p:nvSpPr>
          <p:cNvPr id="14" name="Text 9"/>
          <p:cNvSpPr/>
          <p:nvPr/>
        </p:nvSpPr>
        <p:spPr>
          <a:xfrm>
            <a:off x="5857875" y="3348633"/>
            <a:ext cx="1711207" cy="255389"/>
          </a:xfrm>
          <a:prstGeom prst="rect">
            <a:avLst/>
          </a:prstGeom>
          <a:noFill/>
          <a:ln/>
        </p:spPr>
        <p:txBody>
          <a:bodyPr wrap="square" lIns="8509" tIns="102108" rIns="8509" bIns="8509" rtlCol="0" anchor="ctr">
            <a:spAutoFit/>
          </a:bodyPr>
          <a:lstStyle/>
          <a:p>
            <a:pPr algn="l" indent="0" marL="0">
              <a:buNone/>
            </a:pPr>
            <a:r>
              <a:rPr lang="en-US" sz="950" dirty="0">
                <a:solidFill>
                  <a:srgbClr val="94A3B8"/>
                </a:solidFill>
                <a:latin typeface="Inter Light" pitchFamily="34" charset="0"/>
                <a:ea typeface="Inter Light" pitchFamily="34" charset="-122"/>
                <a:cs typeface="Inter Light" pitchFamily="34" charset="-120"/>
              </a:rPr>
              <a:t>Logistic Regression</a:t>
            </a:r>
            <a:endParaRPr lang="en-US" sz="950" dirty="0"/>
          </a:p>
        </p:txBody>
      </p:sp>
      <p:sp>
        <p:nvSpPr>
          <p:cNvPr id="15" name="Text 10"/>
          <p:cNvSpPr/>
          <p:nvPr/>
        </p:nvSpPr>
        <p:spPr>
          <a:xfrm>
            <a:off x="7569082" y="3348633"/>
            <a:ext cx="1003418" cy="255389"/>
          </a:xfrm>
          <a:prstGeom prst="rect">
            <a:avLst/>
          </a:prstGeom>
          <a:noFill/>
          <a:ln/>
        </p:spPr>
        <p:txBody>
          <a:bodyPr wrap="none" lIns="8509" tIns="102108" rIns="8509" bIns="8509" rtlCol="0" anchor="ctr">
            <a:spAutoFit/>
          </a:bodyPr>
          <a:lstStyle/>
          <a:p>
            <a:pPr algn="l" indent="0" marL="0">
              <a:buNone/>
            </a:pPr>
            <a:r>
              <a:rPr lang="en-US" sz="950" dirty="0">
                <a:solidFill>
                  <a:srgbClr val="94A3B8"/>
                </a:solidFill>
                <a:latin typeface="Inter Light" pitchFamily="34" charset="0"/>
                <a:ea typeface="Inter Light" pitchFamily="34" charset="-122"/>
                <a:cs typeface="Inter Light" pitchFamily="34" charset="-120"/>
              </a:rPr>
              <a:t>99.16%</a:t>
            </a:r>
            <a:endParaRPr lang="en-US" sz="950" dirty="0"/>
          </a:p>
        </p:txBody>
      </p:sp>
      <p:sp>
        <p:nvSpPr>
          <p:cNvPr id="16" name="Text 11"/>
          <p:cNvSpPr/>
          <p:nvPr/>
        </p:nvSpPr>
        <p:spPr>
          <a:xfrm>
            <a:off x="5857875" y="3604022"/>
            <a:ext cx="1711207" cy="255389"/>
          </a:xfrm>
          <a:prstGeom prst="rect">
            <a:avLst/>
          </a:prstGeom>
          <a:noFill/>
          <a:ln/>
        </p:spPr>
        <p:txBody>
          <a:bodyPr wrap="square" lIns="8509" tIns="102108" rIns="8509" bIns="8509" rtlCol="0" anchor="ctr">
            <a:spAutoFit/>
          </a:bodyPr>
          <a:lstStyle/>
          <a:p>
            <a:pPr algn="l" indent="0" marL="0">
              <a:buNone/>
            </a:pPr>
            <a:r>
              <a:rPr lang="en-US" sz="950" dirty="0">
                <a:solidFill>
                  <a:srgbClr val="94A3B8"/>
                </a:solidFill>
                <a:latin typeface="Inter Light" pitchFamily="34" charset="0"/>
                <a:ea typeface="Inter Light" pitchFamily="34" charset="-122"/>
                <a:cs typeface="Inter Light" pitchFamily="34" charset="-120"/>
              </a:rPr>
              <a:t>Decision Tree</a:t>
            </a:r>
            <a:endParaRPr lang="en-US" sz="950" dirty="0"/>
          </a:p>
        </p:txBody>
      </p:sp>
      <p:sp>
        <p:nvSpPr>
          <p:cNvPr id="17" name="Text 12"/>
          <p:cNvSpPr/>
          <p:nvPr/>
        </p:nvSpPr>
        <p:spPr>
          <a:xfrm>
            <a:off x="7569082" y="3604022"/>
            <a:ext cx="1003418" cy="255389"/>
          </a:xfrm>
          <a:prstGeom prst="rect">
            <a:avLst/>
          </a:prstGeom>
          <a:noFill/>
          <a:ln/>
        </p:spPr>
        <p:txBody>
          <a:bodyPr wrap="none" lIns="8509" tIns="102108" rIns="8509" bIns="8509" rtlCol="0" anchor="ctr">
            <a:spAutoFit/>
          </a:bodyPr>
          <a:lstStyle/>
          <a:p>
            <a:pPr algn="l" indent="0" marL="0">
              <a:buNone/>
            </a:pPr>
            <a:r>
              <a:rPr lang="en-US" sz="950" dirty="0">
                <a:solidFill>
                  <a:srgbClr val="94A3B8"/>
                </a:solidFill>
                <a:latin typeface="Inter Light" pitchFamily="34" charset="0"/>
                <a:ea typeface="Inter Light" pitchFamily="34" charset="-122"/>
                <a:cs typeface="Inter Light" pitchFamily="34" charset="-120"/>
              </a:rPr>
              <a:t>99.16%</a:t>
            </a:r>
            <a:endParaRPr lang="en-US" sz="950" dirty="0"/>
          </a:p>
        </p:txBody>
      </p:sp>
      <p:sp>
        <p:nvSpPr>
          <p:cNvPr id="18" name="Text 13"/>
          <p:cNvSpPr/>
          <p:nvPr/>
        </p:nvSpPr>
        <p:spPr>
          <a:xfrm>
            <a:off x="5857875" y="3859411"/>
            <a:ext cx="1711207" cy="255389"/>
          </a:xfrm>
          <a:prstGeom prst="rect">
            <a:avLst/>
          </a:prstGeom>
          <a:noFill/>
          <a:ln/>
        </p:spPr>
        <p:txBody>
          <a:bodyPr wrap="square" lIns="8509" tIns="102108" rIns="8509" bIns="8509" rtlCol="0" anchor="ctr">
            <a:spAutoFit/>
          </a:bodyPr>
          <a:lstStyle/>
          <a:p>
            <a:pPr algn="l" indent="0" marL="0">
              <a:buNone/>
            </a:pPr>
            <a:r>
              <a:rPr lang="en-US" sz="950" dirty="0">
                <a:solidFill>
                  <a:srgbClr val="94A3B8"/>
                </a:solidFill>
                <a:latin typeface="Inter Light" pitchFamily="34" charset="0"/>
                <a:ea typeface="Inter Light" pitchFamily="34" charset="-122"/>
                <a:cs typeface="Inter Light" pitchFamily="34" charset="-120"/>
              </a:rPr>
              <a:t>Random Forest</a:t>
            </a:r>
            <a:endParaRPr lang="en-US" sz="950" dirty="0"/>
          </a:p>
        </p:txBody>
      </p:sp>
      <p:sp>
        <p:nvSpPr>
          <p:cNvPr id="19" name="Text 14"/>
          <p:cNvSpPr/>
          <p:nvPr/>
        </p:nvSpPr>
        <p:spPr>
          <a:xfrm>
            <a:off x="7569082" y="3859411"/>
            <a:ext cx="1003418" cy="255389"/>
          </a:xfrm>
          <a:prstGeom prst="rect">
            <a:avLst/>
          </a:prstGeom>
          <a:noFill/>
          <a:ln/>
        </p:spPr>
        <p:txBody>
          <a:bodyPr wrap="none" lIns="8509" tIns="102108" rIns="8509" bIns="8509" rtlCol="0" anchor="ctr">
            <a:spAutoFit/>
          </a:bodyPr>
          <a:lstStyle/>
          <a:p>
            <a:pPr algn="l" indent="0" marL="0">
              <a:buNone/>
            </a:pPr>
            <a:r>
              <a:rPr lang="en-US" sz="950" dirty="0">
                <a:solidFill>
                  <a:srgbClr val="94A3B8"/>
                </a:solidFill>
                <a:latin typeface="Inter Light" pitchFamily="34" charset="0"/>
                <a:ea typeface="Inter Light" pitchFamily="34" charset="-122"/>
                <a:cs typeface="Inter Light" pitchFamily="34" charset="-120"/>
              </a:rPr>
              <a:t>97.91%</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9144000" cy="553641"/>
          </a:xfrm>
          <a:prstGeom prst="rect">
            <a:avLst/>
          </a:prstGeom>
          <a:noFill/>
          <a:ln/>
        </p:spPr>
        <p:txBody>
          <a:bodyPr wrap="square" lIns="0" tIns="0" rIns="0" bIns="0" rtlCol="0" anchor="t">
            <a:spAutoFit/>
          </a:bodyPr>
          <a:lstStyle/>
          <a:p>
            <a:pPr algn="l" indent="0" marL="0">
              <a:buNone/>
            </a:pPr>
            <a:r>
              <a:rPr lang="en-US" sz="3300" b="1" dirty="0">
                <a:solidFill>
                  <a:srgbClr val="FFFFFF"/>
                </a:solidFill>
                <a:latin typeface="Inter Black" pitchFamily="34" charset="0"/>
                <a:ea typeface="Inter Black" pitchFamily="34" charset="-122"/>
                <a:cs typeface="Inter Black" pitchFamily="34" charset="-120"/>
              </a:rPr>
              <a:t>Why XGBoost Leads the Way</a:t>
            </a:r>
            <a:endParaRPr lang="en-US" sz="3300" dirty="0"/>
          </a:p>
        </p:txBody>
      </p:sp>
      <p:sp>
        <p:nvSpPr>
          <p:cNvPr id="5" name="Shape 1"/>
          <p:cNvSpPr/>
          <p:nvPr/>
        </p:nvSpPr>
        <p:spPr>
          <a:xfrm>
            <a:off x="1200150" y="1857375"/>
            <a:ext cx="885825" cy="885825"/>
          </a:xfrm>
          <a:prstGeom prst="ellipse">
            <a:avLst/>
          </a:prstGeom>
          <a:solidFill>
            <a:srgbClr val="000000">
              <a:alpha val="0"/>
            </a:srgbClr>
          </a:solidFill>
          <a:ln w="18288">
            <a:solidFill>
              <a:srgbClr val="22D3EE"/>
            </a:solidFill>
            <a:prstDash val="solid"/>
          </a:ln>
        </p:spPr>
      </p:sp>
      <p:sp>
        <p:nvSpPr>
          <p:cNvPr id="6" name="Text 2"/>
          <p:cNvSpPr/>
          <p:nvPr/>
        </p:nvSpPr>
        <p:spPr>
          <a:xfrm>
            <a:off x="1200150" y="1857375"/>
            <a:ext cx="885825" cy="885825"/>
          </a:xfrm>
          <a:prstGeom prst="rect">
            <a:avLst/>
          </a:prstGeom>
          <a:noFill/>
          <a:ln/>
        </p:spPr>
        <p:txBody>
          <a:bodyPr wrap="none" lIns="0" tIns="0" rIns="0" bIns="0" rtlCol="0" anchor="ctr">
            <a:spAutoFit/>
          </a:bodyPr>
          <a:lstStyle/>
          <a:p>
            <a:pPr algn="ctr" indent="0" marL="0">
              <a:buNone/>
            </a:pPr>
            <a:r>
              <a:rPr lang="en-US" sz="1800" b="1" dirty="0">
                <a:solidFill>
                  <a:srgbClr val="22D3EE"/>
                </a:solidFill>
                <a:latin typeface="Inter Black" pitchFamily="34" charset="0"/>
                <a:ea typeface="Inter Black" pitchFamily="34" charset="-122"/>
                <a:cs typeface="Inter Black" pitchFamily="34" charset="-120"/>
              </a:rPr>
              <a:t>1.00</a:t>
            </a:r>
            <a:endParaRPr lang="en-US" sz="1800" dirty="0"/>
          </a:p>
        </p:txBody>
      </p:sp>
      <p:sp>
        <p:nvSpPr>
          <p:cNvPr id="7" name="Text 3"/>
          <p:cNvSpPr/>
          <p:nvPr/>
        </p:nvSpPr>
        <p:spPr>
          <a:xfrm>
            <a:off x="1187648" y="2857500"/>
            <a:ext cx="910828" cy="173236"/>
          </a:xfrm>
          <a:prstGeom prst="rect">
            <a:avLst/>
          </a:prstGeom>
          <a:noFill/>
          <a:ln/>
        </p:spPr>
        <p:txBody>
          <a:bodyPr wrap="none" lIns="0" tIns="0" rIns="0" bIns="0" rtlCol="0" anchor="t">
            <a:spAutoFit/>
          </a:bodyPr>
          <a:lstStyle/>
          <a:p>
            <a:pPr algn="ctr" indent="0" marL="0">
              <a:buNone/>
            </a:pPr>
            <a:r>
              <a:rPr lang="en-US" sz="1000" b="1" spc="2" kern="0" dirty="0">
                <a:solidFill>
                  <a:srgbClr val="FFFFFF"/>
                </a:solidFill>
                <a:latin typeface="Inter Black" pitchFamily="34" charset="0"/>
                <a:ea typeface="Inter Black" pitchFamily="34" charset="-122"/>
                <a:cs typeface="Inter Black" pitchFamily="34" charset="-120"/>
              </a:rPr>
              <a:t>PRECISION</a:t>
            </a:r>
            <a:endParaRPr lang="en-US" sz="1000" dirty="0"/>
          </a:p>
        </p:txBody>
      </p:sp>
      <p:sp>
        <p:nvSpPr>
          <p:cNvPr id="8" name="Text 4"/>
          <p:cNvSpPr/>
          <p:nvPr/>
        </p:nvSpPr>
        <p:spPr>
          <a:xfrm>
            <a:off x="571500" y="3102173"/>
            <a:ext cx="2143125" cy="320018"/>
          </a:xfrm>
          <a:prstGeom prst="rect">
            <a:avLst/>
          </a:prstGeom>
          <a:noFill/>
          <a:ln/>
        </p:spPr>
        <p:txBody>
          <a:bodyPr wrap="square" lIns="0" tIns="0" rIns="0" bIns="0" rtlCol="0" anchor="t">
            <a:spAutoFit/>
          </a:bodyPr>
          <a:lstStyle/>
          <a:p>
            <a:pPr algn="ctr" indent="0" marL="0">
              <a:lnSpc>
                <a:spcPct val="112000"/>
              </a:lnSpc>
              <a:buNone/>
            </a:pPr>
            <a:r>
              <a:rPr lang="en-US" sz="850" dirty="0">
                <a:solidFill>
                  <a:srgbClr val="64748B"/>
                </a:solidFill>
                <a:latin typeface="Inter Light" pitchFamily="34" charset="0"/>
                <a:ea typeface="Inter Light" pitchFamily="34" charset="-122"/>
                <a:cs typeface="Inter Light" pitchFamily="34" charset="-120"/>
              </a:rPr>
              <a:t>Perfect precision for non-depressed class; 0.83 for minority detection.</a:t>
            </a:r>
            <a:endParaRPr lang="en-US" sz="850" dirty="0"/>
          </a:p>
        </p:txBody>
      </p:sp>
      <p:sp>
        <p:nvSpPr>
          <p:cNvPr id="9" name="Shape 5"/>
          <p:cNvSpPr/>
          <p:nvPr/>
        </p:nvSpPr>
        <p:spPr>
          <a:xfrm>
            <a:off x="4129088" y="1857375"/>
            <a:ext cx="885825" cy="885825"/>
          </a:xfrm>
          <a:prstGeom prst="ellipse">
            <a:avLst/>
          </a:prstGeom>
          <a:solidFill>
            <a:srgbClr val="000000">
              <a:alpha val="0"/>
            </a:srgbClr>
          </a:solidFill>
          <a:ln w="18288">
            <a:solidFill>
              <a:srgbClr val="818CF8"/>
            </a:solidFill>
            <a:prstDash val="solid"/>
          </a:ln>
        </p:spPr>
      </p:sp>
      <p:sp>
        <p:nvSpPr>
          <p:cNvPr id="10" name="Text 6"/>
          <p:cNvSpPr/>
          <p:nvPr/>
        </p:nvSpPr>
        <p:spPr>
          <a:xfrm>
            <a:off x="4129088" y="1857375"/>
            <a:ext cx="885825" cy="885825"/>
          </a:xfrm>
          <a:prstGeom prst="rect">
            <a:avLst/>
          </a:prstGeom>
          <a:noFill/>
          <a:ln/>
        </p:spPr>
        <p:txBody>
          <a:bodyPr wrap="none" lIns="0" tIns="0" rIns="0" bIns="0" rtlCol="0" anchor="ctr">
            <a:spAutoFit/>
          </a:bodyPr>
          <a:lstStyle/>
          <a:p>
            <a:pPr algn="ctr" indent="0" marL="0">
              <a:buNone/>
            </a:pPr>
            <a:r>
              <a:rPr lang="en-US" sz="1800" b="1" dirty="0">
                <a:solidFill>
                  <a:srgbClr val="818CF8"/>
                </a:solidFill>
                <a:latin typeface="Inter Black" pitchFamily="34" charset="0"/>
                <a:ea typeface="Inter Black" pitchFamily="34" charset="-122"/>
                <a:cs typeface="Inter Black" pitchFamily="34" charset="-120"/>
              </a:rPr>
              <a:t>1.00</a:t>
            </a:r>
            <a:endParaRPr lang="en-US" sz="1800" dirty="0"/>
          </a:p>
        </p:txBody>
      </p:sp>
      <p:sp>
        <p:nvSpPr>
          <p:cNvPr id="11" name="Text 7"/>
          <p:cNvSpPr/>
          <p:nvPr/>
        </p:nvSpPr>
        <p:spPr>
          <a:xfrm>
            <a:off x="4249638" y="2857500"/>
            <a:ext cx="644723" cy="173236"/>
          </a:xfrm>
          <a:prstGeom prst="rect">
            <a:avLst/>
          </a:prstGeom>
          <a:noFill/>
          <a:ln/>
        </p:spPr>
        <p:txBody>
          <a:bodyPr wrap="none" lIns="0" tIns="0" rIns="0" bIns="0" rtlCol="0" anchor="t">
            <a:spAutoFit/>
          </a:bodyPr>
          <a:lstStyle/>
          <a:p>
            <a:pPr algn="ctr" indent="0" marL="0">
              <a:buNone/>
            </a:pPr>
            <a:r>
              <a:rPr lang="en-US" sz="1000" b="1" spc="2" kern="0" dirty="0">
                <a:solidFill>
                  <a:srgbClr val="FFFFFF"/>
                </a:solidFill>
                <a:latin typeface="Inter Black" pitchFamily="34" charset="0"/>
                <a:ea typeface="Inter Black" pitchFamily="34" charset="-122"/>
                <a:cs typeface="Inter Black" pitchFamily="34" charset="-120"/>
              </a:rPr>
              <a:t>RECALL</a:t>
            </a:r>
            <a:endParaRPr lang="en-US" sz="1000" dirty="0"/>
          </a:p>
        </p:txBody>
      </p:sp>
      <p:sp>
        <p:nvSpPr>
          <p:cNvPr id="12" name="Text 8"/>
          <p:cNvSpPr/>
          <p:nvPr/>
        </p:nvSpPr>
        <p:spPr>
          <a:xfrm>
            <a:off x="3500438" y="3102173"/>
            <a:ext cx="2143125" cy="320018"/>
          </a:xfrm>
          <a:prstGeom prst="rect">
            <a:avLst/>
          </a:prstGeom>
          <a:noFill/>
          <a:ln/>
        </p:spPr>
        <p:txBody>
          <a:bodyPr wrap="square" lIns="0" tIns="0" rIns="0" bIns="0" rtlCol="0" anchor="t">
            <a:spAutoFit/>
          </a:bodyPr>
          <a:lstStyle/>
          <a:p>
            <a:pPr algn="ctr" indent="0" marL="0">
              <a:lnSpc>
                <a:spcPct val="112000"/>
              </a:lnSpc>
              <a:buNone/>
            </a:pPr>
            <a:r>
              <a:rPr lang="en-US" sz="850" dirty="0">
                <a:solidFill>
                  <a:srgbClr val="64748B"/>
                </a:solidFill>
                <a:latin typeface="Inter Light" pitchFamily="34" charset="0"/>
                <a:ea typeface="Inter Light" pitchFamily="34" charset="-122"/>
                <a:cs typeface="Inter Light" pitchFamily="34" charset="-120"/>
              </a:rPr>
              <a:t>100% sensitivity in identifying individuals at risk of depression.</a:t>
            </a:r>
            <a:endParaRPr lang="en-US" sz="850" dirty="0"/>
          </a:p>
        </p:txBody>
      </p:sp>
      <p:sp>
        <p:nvSpPr>
          <p:cNvPr id="13" name="Shape 9"/>
          <p:cNvSpPr/>
          <p:nvPr/>
        </p:nvSpPr>
        <p:spPr>
          <a:xfrm>
            <a:off x="7058025" y="1857375"/>
            <a:ext cx="885825" cy="885825"/>
          </a:xfrm>
          <a:prstGeom prst="ellipse">
            <a:avLst/>
          </a:prstGeom>
          <a:solidFill>
            <a:srgbClr val="000000">
              <a:alpha val="0"/>
            </a:srgbClr>
          </a:solidFill>
          <a:ln w="18288">
            <a:solidFill>
              <a:srgbClr val="22D3EE"/>
            </a:solidFill>
            <a:prstDash val="solid"/>
          </a:ln>
        </p:spPr>
      </p:sp>
      <p:sp>
        <p:nvSpPr>
          <p:cNvPr id="14" name="Text 10"/>
          <p:cNvSpPr/>
          <p:nvPr/>
        </p:nvSpPr>
        <p:spPr>
          <a:xfrm>
            <a:off x="7058025" y="1857375"/>
            <a:ext cx="885825" cy="885825"/>
          </a:xfrm>
          <a:prstGeom prst="rect">
            <a:avLst/>
          </a:prstGeom>
          <a:noFill/>
          <a:ln/>
        </p:spPr>
        <p:txBody>
          <a:bodyPr wrap="none" lIns="0" tIns="0" rIns="0" bIns="0" rtlCol="0" anchor="ctr">
            <a:spAutoFit/>
          </a:bodyPr>
          <a:lstStyle/>
          <a:p>
            <a:pPr algn="ctr" indent="0" marL="0">
              <a:buNone/>
            </a:pPr>
            <a:r>
              <a:rPr lang="en-US" sz="1800" b="1" dirty="0">
                <a:solidFill>
                  <a:srgbClr val="22D3EE"/>
                </a:solidFill>
                <a:latin typeface="Inter Black" pitchFamily="34" charset="0"/>
                <a:ea typeface="Inter Black" pitchFamily="34" charset="-122"/>
                <a:cs typeface="Inter Black" pitchFamily="34" charset="-120"/>
              </a:rPr>
              <a:t>0.91</a:t>
            </a:r>
            <a:endParaRPr lang="en-US" sz="1800" dirty="0"/>
          </a:p>
        </p:txBody>
      </p:sp>
      <p:sp>
        <p:nvSpPr>
          <p:cNvPr id="15" name="Text 11"/>
          <p:cNvSpPr/>
          <p:nvPr/>
        </p:nvSpPr>
        <p:spPr>
          <a:xfrm>
            <a:off x="7088386" y="2857500"/>
            <a:ext cx="825103" cy="173236"/>
          </a:xfrm>
          <a:prstGeom prst="rect">
            <a:avLst/>
          </a:prstGeom>
          <a:noFill/>
          <a:ln/>
        </p:spPr>
        <p:txBody>
          <a:bodyPr wrap="none" lIns="0" tIns="0" rIns="0" bIns="0" rtlCol="0" anchor="t">
            <a:spAutoFit/>
          </a:bodyPr>
          <a:lstStyle/>
          <a:p>
            <a:pPr algn="ctr" indent="0" marL="0">
              <a:buNone/>
            </a:pPr>
            <a:r>
              <a:rPr lang="en-US" sz="1000" b="1" spc="2" kern="0" dirty="0">
                <a:solidFill>
                  <a:srgbClr val="FFFFFF"/>
                </a:solidFill>
                <a:latin typeface="Inter Black" pitchFamily="34" charset="0"/>
                <a:ea typeface="Inter Black" pitchFamily="34" charset="-122"/>
                <a:cs typeface="Inter Black" pitchFamily="34" charset="-120"/>
              </a:rPr>
              <a:t>F1-SCORE</a:t>
            </a:r>
            <a:endParaRPr lang="en-US" sz="1000" dirty="0"/>
          </a:p>
        </p:txBody>
      </p:sp>
      <p:sp>
        <p:nvSpPr>
          <p:cNvPr id="16" name="Text 12"/>
          <p:cNvSpPr/>
          <p:nvPr/>
        </p:nvSpPr>
        <p:spPr>
          <a:xfrm>
            <a:off x="6429375" y="3102173"/>
            <a:ext cx="2143125" cy="320018"/>
          </a:xfrm>
          <a:prstGeom prst="rect">
            <a:avLst/>
          </a:prstGeom>
          <a:noFill/>
          <a:ln/>
        </p:spPr>
        <p:txBody>
          <a:bodyPr wrap="square" lIns="0" tIns="0" rIns="0" bIns="0" rtlCol="0" anchor="t">
            <a:spAutoFit/>
          </a:bodyPr>
          <a:lstStyle/>
          <a:p>
            <a:pPr algn="ctr" indent="0" marL="0">
              <a:lnSpc>
                <a:spcPct val="112000"/>
              </a:lnSpc>
              <a:buNone/>
            </a:pPr>
            <a:r>
              <a:rPr lang="en-US" sz="850" dirty="0">
                <a:solidFill>
                  <a:srgbClr val="64748B"/>
                </a:solidFill>
                <a:latin typeface="Inter Light" pitchFamily="34" charset="0"/>
                <a:ea typeface="Inter Light" pitchFamily="34" charset="-122"/>
                <a:cs typeface="Inter Light" pitchFamily="34" charset="-120"/>
              </a:rPr>
              <a:t>Exceptional balance between precision and recall for the minority class.</a:t>
            </a:r>
            <a:endParaRPr lang="en-US" sz="850" dirty="0"/>
          </a:p>
        </p:txBody>
      </p:sp>
      <p:sp>
        <p:nvSpPr>
          <p:cNvPr id="17" name="Shape 13"/>
          <p:cNvSpPr/>
          <p:nvPr/>
        </p:nvSpPr>
        <p:spPr>
          <a:xfrm>
            <a:off x="0" y="3993691"/>
            <a:ext cx="9144000" cy="1028700"/>
          </a:xfrm>
          <a:prstGeom prst="rect">
            <a:avLst/>
          </a:prstGeom>
          <a:solidFill>
            <a:srgbClr val="000000">
              <a:alpha val="0"/>
            </a:srgbClr>
          </a:solidFill>
          <a:ln/>
        </p:spPr>
      </p:sp>
      <p:sp>
        <p:nvSpPr>
          <p:cNvPr id="18" name="Shape 14"/>
          <p:cNvSpPr/>
          <p:nvPr/>
        </p:nvSpPr>
        <p:spPr>
          <a:xfrm>
            <a:off x="0" y="3993691"/>
            <a:ext cx="9144000" cy="7144"/>
          </a:xfrm>
          <a:prstGeom prst="rect">
            <a:avLst/>
          </a:prstGeom>
          <a:solidFill>
            <a:srgbClr val="F4F6F8"/>
          </a:solidFill>
          <a:ln/>
        </p:spPr>
      </p:sp>
      <p:sp>
        <p:nvSpPr>
          <p:cNvPr id="19" name="Text 15"/>
          <p:cNvSpPr/>
          <p:nvPr/>
        </p:nvSpPr>
        <p:spPr>
          <a:xfrm>
            <a:off x="571500" y="4279441"/>
            <a:ext cx="8572500" cy="207169"/>
          </a:xfrm>
          <a:prstGeom prst="rect">
            <a:avLst/>
          </a:prstGeom>
          <a:noFill/>
          <a:ln/>
        </p:spPr>
        <p:txBody>
          <a:bodyPr wrap="square" lIns="0" tIns="0" rIns="0" bIns="0" rtlCol="0" anchor="t">
            <a:spAutoFit/>
          </a:bodyPr>
          <a:lstStyle/>
          <a:p>
            <a:pPr algn="l" indent="0" marL="0">
              <a:buNone/>
            </a:pPr>
            <a:r>
              <a:rPr lang="en-US" sz="1200" b="1" dirty="0">
                <a:solidFill>
                  <a:srgbClr val="818CF8"/>
                </a:solidFill>
                <a:latin typeface="Inter Black" pitchFamily="34" charset="0"/>
                <a:ea typeface="Inter Black" pitchFamily="34" charset="-122"/>
                <a:cs typeface="Inter Black" pitchFamily="34" charset="-120"/>
              </a:rPr>
              <a:t>Algorithmic Robustness</a:t>
            </a:r>
            <a:endParaRPr lang="en-US" sz="1200" dirty="0"/>
          </a:p>
        </p:txBody>
      </p:sp>
      <p:sp>
        <p:nvSpPr>
          <p:cNvPr id="20" name="Text 16"/>
          <p:cNvSpPr/>
          <p:nvPr/>
        </p:nvSpPr>
        <p:spPr>
          <a:xfrm>
            <a:off x="571500" y="4558047"/>
            <a:ext cx="7143750" cy="457200"/>
          </a:xfrm>
          <a:prstGeom prst="rect">
            <a:avLst/>
          </a:prstGeom>
          <a:noFill/>
          <a:ln/>
        </p:spPr>
        <p:txBody>
          <a:bodyPr wrap="square" lIns="0" tIns="0" rIns="0" bIns="0" rtlCol="0" anchor="t">
            <a:spAutoFit/>
          </a:bodyPr>
          <a:lstStyle/>
          <a:p>
            <a:pPr algn="l" indent="0" marL="0">
              <a:lnSpc>
                <a:spcPct val="128000"/>
              </a:lnSpc>
              <a:buNone/>
            </a:pPr>
            <a:r>
              <a:rPr lang="en-US" sz="1050" dirty="0">
                <a:solidFill>
                  <a:srgbClr val="94A3B8"/>
                </a:solidFill>
                <a:latin typeface="Inter Light" pitchFamily="34" charset="0"/>
                <a:ea typeface="Inter Light" pitchFamily="34" charset="-122"/>
                <a:cs typeface="Inter Light" pitchFamily="34" charset="-120"/>
              </a:rPr>
              <a:t>XGBoost effectively handles the </a:t>
            </a:r>
            <a:r>
              <a:rPr lang="en-US" sz="1050" dirty="0">
                <a:solidFill>
                  <a:srgbClr val="94A3B8"/>
                </a:solidFill>
                <a:latin typeface="Inter Light" pitchFamily="34" charset="0"/>
                <a:ea typeface="Inter Light" pitchFamily="34" charset="-122"/>
                <a:cs typeface="Inter Light" pitchFamily="34" charset="-120"/>
              </a:rPr>
              <a:t>non-linear relationships</a:t>
            </a:r>
            <a:r>
              <a:rPr lang="en-US" sz="1050" dirty="0">
                <a:solidFill>
                  <a:srgbClr val="94A3B8"/>
                </a:solidFill>
                <a:latin typeface="Inter Light" pitchFamily="34" charset="0"/>
                <a:ea typeface="Inter Light" pitchFamily="34" charset="-122"/>
                <a:cs typeface="Inter Light" pitchFamily="34" charset="-120"/>
              </a:rPr>
              <a:t> between digital biomarkers and mental health </a:t>
            </a:r>
            <a:r>
              <a:rPr lang="en-US" sz="1050" dirty="0">
                <a:solidFill>
                  <a:srgbClr val="94A3B8"/>
                </a:solidFill>
                <a:latin typeface="Inter Light" pitchFamily="34" charset="0"/>
                <a:ea typeface="Inter Light" pitchFamily="34" charset="-122"/>
                <a:cs typeface="Inter Light" pitchFamily="34" charset="-120"/>
              </a:rPr>
              <a:t>states, outperforming traditional linear models in complex behavioral datasets.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9144000" cy="483989"/>
          </a:xfrm>
          <a:prstGeom prst="rect">
            <a:avLst/>
          </a:prstGeom>
          <a:noFill/>
          <a:ln/>
        </p:spPr>
        <p:txBody>
          <a:bodyPr wrap="square" lIns="0" tIns="0" rIns="0" bIns="0" rtlCol="0" anchor="t">
            <a:spAutoFit/>
          </a:bodyPr>
          <a:lstStyle/>
          <a:p>
            <a:pPr algn="l" indent="0" marL="0">
              <a:buNone/>
            </a:pPr>
            <a:r>
              <a:rPr lang="en-US" sz="2850" b="1" dirty="0">
                <a:solidFill>
                  <a:srgbClr val="FFFFFF"/>
                </a:solidFill>
                <a:latin typeface="Inter Black" pitchFamily="34" charset="0"/>
                <a:ea typeface="Inter Black" pitchFamily="34" charset="-122"/>
                <a:cs typeface="Inter Black" pitchFamily="34" charset="-120"/>
              </a:rPr>
              <a:t>Scalability: From Research to Impact</a:t>
            </a:r>
            <a:endParaRPr lang="en-US" sz="2850" dirty="0"/>
          </a:p>
        </p:txBody>
      </p:sp>
      <p:sp>
        <p:nvSpPr>
          <p:cNvPr id="5" name="Text 1"/>
          <p:cNvSpPr/>
          <p:nvPr/>
        </p:nvSpPr>
        <p:spPr>
          <a:xfrm>
            <a:off x="806602" y="1628775"/>
            <a:ext cx="2143125" cy="207169"/>
          </a:xfrm>
          <a:prstGeom prst="rect">
            <a:avLst/>
          </a:prstGeom>
          <a:noFill/>
          <a:ln/>
        </p:spPr>
        <p:txBody>
          <a:bodyPr wrap="square" lIns="0" tIns="0" rIns="0" bIns="0" rtlCol="0" anchor="t">
            <a:spAutoFit/>
          </a:bodyPr>
          <a:lstStyle/>
          <a:p>
            <a:pPr algn="l" indent="0" marL="0">
              <a:buNone/>
            </a:pPr>
            <a:r>
              <a:rPr lang="en-US" sz="1200" b="1" spc="2" kern="0" dirty="0">
                <a:solidFill>
                  <a:srgbClr val="FFFFFF"/>
                </a:solidFill>
                <a:latin typeface="Inter Black" pitchFamily="34" charset="0"/>
                <a:ea typeface="Inter Black" pitchFamily="34" charset="-122"/>
                <a:cs typeface="Inter Black" pitchFamily="34" charset="-120"/>
              </a:rPr>
              <a:t>API INTEGRATION</a:t>
            </a:r>
            <a:endParaRPr lang="en-US" sz="1200" dirty="0"/>
          </a:p>
        </p:txBody>
      </p:sp>
      <p:sp>
        <p:nvSpPr>
          <p:cNvPr id="6" name="Text 2"/>
          <p:cNvSpPr/>
          <p:nvPr/>
        </p:nvSpPr>
        <p:spPr>
          <a:xfrm>
            <a:off x="3571875" y="1644848"/>
            <a:ext cx="5000625" cy="411435"/>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94A3B8"/>
                </a:solidFill>
                <a:latin typeface="Inter Light" pitchFamily="34" charset="0"/>
                <a:ea typeface="Inter Light" pitchFamily="34" charset="-122"/>
                <a:cs typeface="Inter Light" pitchFamily="34" charset="-120"/>
              </a:rPr>
              <a:t>Seamless deployment ready for wearable tech, health ecosystems, and corporate wellness platforms via RESTful architecture.</a:t>
            </a:r>
            <a:endParaRPr lang="en-US" sz="950" dirty="0"/>
          </a:p>
        </p:txBody>
      </p:sp>
      <p:sp>
        <p:nvSpPr>
          <p:cNvPr id="7" name="Text 3"/>
          <p:cNvSpPr/>
          <p:nvPr/>
        </p:nvSpPr>
        <p:spPr>
          <a:xfrm>
            <a:off x="806602" y="2293144"/>
            <a:ext cx="2143125" cy="414338"/>
          </a:xfrm>
          <a:prstGeom prst="rect">
            <a:avLst/>
          </a:prstGeom>
          <a:noFill/>
          <a:ln/>
        </p:spPr>
        <p:txBody>
          <a:bodyPr wrap="square" lIns="0" tIns="0" rIns="0" bIns="0" rtlCol="0" anchor="t">
            <a:spAutoFit/>
          </a:bodyPr>
          <a:lstStyle/>
          <a:p>
            <a:pPr algn="l" indent="0" marL="0">
              <a:buNone/>
            </a:pPr>
            <a:r>
              <a:rPr lang="en-US" sz="1200" b="1" spc="2" kern="0" dirty="0">
                <a:solidFill>
                  <a:srgbClr val="FFFFFF"/>
                </a:solidFill>
                <a:latin typeface="Inter Black" pitchFamily="34" charset="0"/>
                <a:ea typeface="Inter Black" pitchFamily="34" charset="-122"/>
                <a:cs typeface="Inter Black" pitchFamily="34" charset="-120"/>
              </a:rPr>
              <a:t>REAL-TIME MONITORING</a:t>
            </a:r>
            <a:endParaRPr lang="en-US" sz="1200" dirty="0"/>
          </a:p>
        </p:txBody>
      </p:sp>
      <p:sp>
        <p:nvSpPr>
          <p:cNvPr id="8" name="Text 4"/>
          <p:cNvSpPr/>
          <p:nvPr/>
        </p:nvSpPr>
        <p:spPr>
          <a:xfrm>
            <a:off x="3571875" y="2309217"/>
            <a:ext cx="5000625" cy="411435"/>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94A3B8"/>
                </a:solidFill>
                <a:latin typeface="Inter Light" pitchFamily="34" charset="0"/>
                <a:ea typeface="Inter Light" pitchFamily="34" charset="-122"/>
                <a:cs typeface="Inter Light" pitchFamily="34" charset="-120"/>
              </a:rPr>
              <a:t>Continuous risk assessment engine that processes digital biomarkers to provide instant wellness alerts and intervention triggers.</a:t>
            </a:r>
            <a:endParaRPr lang="en-US" sz="950" dirty="0"/>
          </a:p>
        </p:txBody>
      </p:sp>
      <p:sp>
        <p:nvSpPr>
          <p:cNvPr id="9" name="Text 5"/>
          <p:cNvSpPr/>
          <p:nvPr/>
        </p:nvSpPr>
        <p:spPr>
          <a:xfrm>
            <a:off x="806602" y="2957513"/>
            <a:ext cx="2143125" cy="207169"/>
          </a:xfrm>
          <a:prstGeom prst="rect">
            <a:avLst/>
          </a:prstGeom>
          <a:noFill/>
          <a:ln/>
        </p:spPr>
        <p:txBody>
          <a:bodyPr wrap="square" lIns="0" tIns="0" rIns="0" bIns="0" rtlCol="0" anchor="t">
            <a:spAutoFit/>
          </a:bodyPr>
          <a:lstStyle/>
          <a:p>
            <a:pPr algn="l" indent="0" marL="0">
              <a:buNone/>
            </a:pPr>
            <a:r>
              <a:rPr lang="en-US" sz="1200" b="1" spc="2" kern="0" dirty="0">
                <a:solidFill>
                  <a:srgbClr val="FFFFFF"/>
                </a:solidFill>
                <a:latin typeface="Inter Black" pitchFamily="34" charset="0"/>
                <a:ea typeface="Inter Black" pitchFamily="34" charset="-122"/>
                <a:cs typeface="Inter Black" pitchFamily="34" charset="-120"/>
              </a:rPr>
              <a:t>PRIVACY FIRST</a:t>
            </a:r>
            <a:endParaRPr lang="en-US" sz="1200" dirty="0"/>
          </a:p>
        </p:txBody>
      </p:sp>
      <p:sp>
        <p:nvSpPr>
          <p:cNvPr id="10" name="Text 6"/>
          <p:cNvSpPr/>
          <p:nvPr/>
        </p:nvSpPr>
        <p:spPr>
          <a:xfrm>
            <a:off x="3571875" y="2973586"/>
            <a:ext cx="5000625" cy="411435"/>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94A3B8"/>
                </a:solidFill>
                <a:latin typeface="Inter Light" pitchFamily="34" charset="0"/>
                <a:ea typeface="Inter Light" pitchFamily="34" charset="-122"/>
                <a:cs typeface="Inter Light" pitchFamily="34" charset="-120"/>
              </a:rPr>
              <a:t>Architecture designed for end-to-end encryption and anonymized data processing, ensuring full compliance with global health data standards.</a:t>
            </a:r>
            <a:endParaRPr lang="en-US" sz="950" dirty="0"/>
          </a:p>
        </p:txBody>
      </p:sp>
      <p:sp>
        <p:nvSpPr>
          <p:cNvPr id="11" name="Text 7"/>
          <p:cNvSpPr/>
          <p:nvPr/>
        </p:nvSpPr>
        <p:spPr>
          <a:xfrm>
            <a:off x="806602" y="3621881"/>
            <a:ext cx="2143125" cy="207169"/>
          </a:xfrm>
          <a:prstGeom prst="rect">
            <a:avLst/>
          </a:prstGeom>
          <a:noFill/>
          <a:ln/>
        </p:spPr>
        <p:txBody>
          <a:bodyPr wrap="square" lIns="0" tIns="0" rIns="0" bIns="0" rtlCol="0" anchor="t">
            <a:spAutoFit/>
          </a:bodyPr>
          <a:lstStyle/>
          <a:p>
            <a:pPr algn="l" indent="0" marL="0">
              <a:buNone/>
            </a:pPr>
            <a:r>
              <a:rPr lang="en-US" sz="1200" b="1" spc="2" kern="0" dirty="0">
                <a:solidFill>
                  <a:srgbClr val="FFFFFF"/>
                </a:solidFill>
                <a:latin typeface="Inter Black" pitchFamily="34" charset="0"/>
                <a:ea typeface="Inter Black" pitchFamily="34" charset="-122"/>
                <a:cs typeface="Inter Black" pitchFamily="34" charset="-120"/>
              </a:rPr>
              <a:t>MARKET POTENTIAL</a:t>
            </a:r>
            <a:endParaRPr lang="en-US" sz="1200" dirty="0"/>
          </a:p>
        </p:txBody>
      </p:sp>
      <p:sp>
        <p:nvSpPr>
          <p:cNvPr id="12" name="Text 8"/>
          <p:cNvSpPr/>
          <p:nvPr/>
        </p:nvSpPr>
        <p:spPr>
          <a:xfrm>
            <a:off x="3571875" y="3637955"/>
            <a:ext cx="5000625" cy="411435"/>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94A3B8"/>
                </a:solidFill>
                <a:latin typeface="Inter Light" pitchFamily="34" charset="0"/>
                <a:ea typeface="Inter Light" pitchFamily="34" charset="-122"/>
                <a:cs typeface="Inter Light" pitchFamily="34" charset="-120"/>
              </a:rPr>
              <a:t>Targeting a </a:t>
            </a:r>
            <a:r>
              <a:rPr lang="en-US" sz="900" b="1" dirty="0">
                <a:solidFill>
                  <a:srgbClr val="22D3EE"/>
                </a:solidFill>
                <a:latin typeface="Inter Black" pitchFamily="34" charset="0"/>
                <a:ea typeface="Inter Black" pitchFamily="34" charset="-122"/>
                <a:cs typeface="Inter Black" pitchFamily="34" charset="-120"/>
              </a:rPr>
              <a:t>$500B+ global mental health market</a:t>
            </a:r>
            <a:r>
              <a:rPr lang="en-US" sz="950" dirty="0">
                <a:solidFill>
                  <a:srgbClr val="94A3B8"/>
                </a:solidFill>
                <a:latin typeface="Inter Light" pitchFamily="34" charset="0"/>
                <a:ea typeface="Inter Light" pitchFamily="34" charset="-122"/>
                <a:cs typeface="Inter Light" pitchFamily="34" charset="-120"/>
              </a:rPr>
              <a:t> ripe for AI disruption and </a:t>
            </a:r>
            <a:r>
              <a:rPr lang="en-US" sz="950" dirty="0">
                <a:solidFill>
                  <a:srgbClr val="94A3B8"/>
                </a:solidFill>
                <a:latin typeface="Inter Light" pitchFamily="34" charset="0"/>
                <a:ea typeface="Inter Light" pitchFamily="34" charset="-122"/>
                <a:cs typeface="Inter Light" pitchFamily="34" charset="-120"/>
              </a:rPr>
              <a:t>predictive diagnostic tools.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9144000" cy="1107281"/>
          </a:xfrm>
          <a:prstGeom prst="rect">
            <a:avLst/>
          </a:prstGeom>
          <a:noFill/>
          <a:ln/>
        </p:spPr>
        <p:txBody>
          <a:bodyPr wrap="square" lIns="0" tIns="0" rIns="0" bIns="0" rtlCol="0" anchor="t">
            <a:spAutoFit/>
          </a:bodyPr>
          <a:lstStyle/>
          <a:p>
            <a:pPr algn="l" indent="0" marL="0">
              <a:buNone/>
            </a:pPr>
            <a:r>
              <a:rPr lang="en-US" sz="3300" b="1" dirty="0">
                <a:solidFill>
                  <a:srgbClr val="FFFFFF"/>
                </a:solidFill>
                <a:latin typeface="Inter Black" pitchFamily="34" charset="0"/>
                <a:ea typeface="Inter Black" pitchFamily="34" charset="-122"/>
                <a:cs typeface="Inter Black" pitchFamily="34" charset="-120"/>
              </a:rPr>
              <a:t>The Future of Mental Health is Predictive</a:t>
            </a:r>
            <a:endParaRPr lang="en-US" sz="3300" dirty="0"/>
          </a:p>
        </p:txBody>
      </p:sp>
      <p:sp>
        <p:nvSpPr>
          <p:cNvPr id="5" name="Text 1"/>
          <p:cNvSpPr/>
          <p:nvPr/>
        </p:nvSpPr>
        <p:spPr>
          <a:xfrm>
            <a:off x="571500" y="1821656"/>
            <a:ext cx="6429375" cy="822927"/>
          </a:xfrm>
          <a:prstGeom prst="rect">
            <a:avLst/>
          </a:prstGeom>
          <a:noFill/>
          <a:ln/>
        </p:spPr>
        <p:txBody>
          <a:bodyPr wrap="square" lIns="0" tIns="0" rIns="0" bIns="0" rtlCol="0" anchor="t">
            <a:spAutoFit/>
          </a:bodyPr>
          <a:lstStyle/>
          <a:p>
            <a:pPr algn="l" indent="0" marL="0">
              <a:lnSpc>
                <a:spcPct val="96000"/>
              </a:lnSpc>
              <a:buNone/>
            </a:pPr>
            <a:r>
              <a:rPr lang="en-US" sz="2450" b="1" dirty="0">
                <a:solidFill>
                  <a:srgbClr val="22D3EE"/>
                </a:solidFill>
                <a:latin typeface="Inter Black" pitchFamily="34" charset="0"/>
                <a:ea typeface="Inter Black" pitchFamily="34" charset="-122"/>
                <a:cs typeface="Inter Black" pitchFamily="34" charset="-120"/>
              </a:rPr>
              <a:t>Moving from reactive treatment to proactive, data-driven prevention.</a:t>
            </a:r>
            <a:endParaRPr lang="en-US" sz="2450" dirty="0"/>
          </a:p>
        </p:txBody>
      </p:sp>
      <p:sp>
        <p:nvSpPr>
          <p:cNvPr id="6" name="Text 2"/>
          <p:cNvSpPr/>
          <p:nvPr/>
        </p:nvSpPr>
        <p:spPr>
          <a:xfrm>
            <a:off x="571500" y="2716020"/>
            <a:ext cx="5715000" cy="822927"/>
          </a:xfrm>
          <a:prstGeom prst="rect">
            <a:avLst/>
          </a:prstGeom>
          <a:noFill/>
          <a:ln/>
        </p:spPr>
        <p:txBody>
          <a:bodyPr wrap="square" lIns="0" tIns="0" rIns="0" bIns="0" rtlCol="0" anchor="t">
            <a:spAutoFit/>
          </a:bodyPr>
          <a:lstStyle/>
          <a:p>
            <a:pPr algn="l" indent="0" marL="0">
              <a:lnSpc>
                <a:spcPct val="128000"/>
              </a:lnSpc>
              <a:buNone/>
            </a:pPr>
            <a:r>
              <a:rPr lang="en-US" sz="1250" dirty="0">
                <a:solidFill>
                  <a:srgbClr val="94A3B8"/>
                </a:solidFill>
                <a:latin typeface="Inter Light" pitchFamily="34" charset="0"/>
                <a:ea typeface="Inter Light" pitchFamily="34" charset="-122"/>
                <a:cs typeface="Inter Light" pitchFamily="34" charset="-120"/>
              </a:rPr>
              <a:t>Our research demonstrates that digital biomarkers are powerful indicators of mental wellness. By harnessing AI, we can identify risks before they escalate into crises.</a:t>
            </a:r>
            <a:endParaRPr lang="en-US" sz="1250" dirty="0"/>
          </a:p>
        </p:txBody>
      </p:sp>
      <p:sp>
        <p:nvSpPr>
          <p:cNvPr id="7" name="Shape 3"/>
          <p:cNvSpPr/>
          <p:nvPr/>
        </p:nvSpPr>
        <p:spPr>
          <a:xfrm>
            <a:off x="0" y="3993356"/>
            <a:ext cx="9144000" cy="1150144"/>
          </a:xfrm>
          <a:prstGeom prst="rect">
            <a:avLst/>
          </a:prstGeom>
          <a:solidFill>
            <a:srgbClr val="0F172A">
              <a:alpha val="80000"/>
            </a:srgbClr>
          </a:solidFill>
          <a:ln/>
        </p:spPr>
      </p:sp>
      <p:sp>
        <p:nvSpPr>
          <p:cNvPr id="8" name="Shape 4"/>
          <p:cNvSpPr/>
          <p:nvPr/>
        </p:nvSpPr>
        <p:spPr>
          <a:xfrm>
            <a:off x="0" y="3993356"/>
            <a:ext cx="9144000" cy="7144"/>
          </a:xfrm>
          <a:prstGeom prst="rect">
            <a:avLst/>
          </a:prstGeom>
          <a:solidFill>
            <a:srgbClr val="E9FBFD"/>
          </a:solidFill>
          <a:ln/>
        </p:spPr>
      </p:sp>
      <p:sp>
        <p:nvSpPr>
          <p:cNvPr id="9" name="Text 5"/>
          <p:cNvSpPr/>
          <p:nvPr/>
        </p:nvSpPr>
        <p:spPr>
          <a:xfrm>
            <a:off x="571500" y="4200358"/>
            <a:ext cx="2143125" cy="121444"/>
          </a:xfrm>
          <a:prstGeom prst="rect">
            <a:avLst/>
          </a:prstGeom>
          <a:noFill/>
          <a:ln/>
        </p:spPr>
        <p:txBody>
          <a:bodyPr wrap="square" lIns="0" tIns="0" rIns="0" bIns="0" rtlCol="0" anchor="t">
            <a:spAutoFit/>
          </a:bodyPr>
          <a:lstStyle/>
          <a:p>
            <a:pPr algn="l" indent="0" marL="0">
              <a:buNone/>
            </a:pPr>
            <a:r>
              <a:rPr lang="en-US" sz="700" b="1" spc="2" kern="0" dirty="0">
                <a:solidFill>
                  <a:srgbClr val="818CF8"/>
                </a:solidFill>
                <a:latin typeface="Inter Black" pitchFamily="34" charset="0"/>
                <a:ea typeface="Inter Black" pitchFamily="34" charset="-122"/>
                <a:cs typeface="Inter Black" pitchFamily="34" charset="-120"/>
              </a:rPr>
              <a:t>PHASE 01</a:t>
            </a:r>
            <a:endParaRPr lang="en-US" sz="700" dirty="0"/>
          </a:p>
        </p:txBody>
      </p:sp>
      <p:sp>
        <p:nvSpPr>
          <p:cNvPr id="10" name="Text 6"/>
          <p:cNvSpPr/>
          <p:nvPr/>
        </p:nvSpPr>
        <p:spPr>
          <a:xfrm>
            <a:off x="571500" y="4393239"/>
            <a:ext cx="2143125" cy="173236"/>
          </a:xfrm>
          <a:prstGeom prst="rect">
            <a:avLst/>
          </a:prstGeom>
          <a:noFill/>
          <a:ln/>
        </p:spPr>
        <p:txBody>
          <a:bodyPr wrap="square" lIns="0" tIns="0" rIns="0" bIns="0" rtlCol="0" anchor="t">
            <a:spAutoFit/>
          </a:bodyPr>
          <a:lstStyle/>
          <a:p>
            <a:pPr algn="l" indent="0" marL="0">
              <a:buNone/>
            </a:pPr>
            <a:r>
              <a:rPr lang="en-US" sz="1000" b="1" dirty="0">
                <a:solidFill>
                  <a:srgbClr val="FFFFFF"/>
                </a:solidFill>
                <a:latin typeface="Inter Black" pitchFamily="34" charset="0"/>
                <a:ea typeface="Inter Black" pitchFamily="34" charset="-122"/>
                <a:cs typeface="Inter Black" pitchFamily="34" charset="-120"/>
              </a:rPr>
              <a:t>Data Expansion</a:t>
            </a:r>
            <a:endParaRPr lang="en-US" sz="1000" dirty="0"/>
          </a:p>
        </p:txBody>
      </p:sp>
      <p:sp>
        <p:nvSpPr>
          <p:cNvPr id="11" name="Text 7"/>
          <p:cNvSpPr/>
          <p:nvPr/>
        </p:nvSpPr>
        <p:spPr>
          <a:xfrm>
            <a:off x="571500" y="4623625"/>
            <a:ext cx="2143125" cy="320018"/>
          </a:xfrm>
          <a:prstGeom prst="rect">
            <a:avLst/>
          </a:prstGeom>
          <a:noFill/>
          <a:ln/>
        </p:spPr>
        <p:txBody>
          <a:bodyPr wrap="square" lIns="0" tIns="0" rIns="0" bIns="0" rtlCol="0" anchor="t">
            <a:spAutoFit/>
          </a:bodyPr>
          <a:lstStyle/>
          <a:p>
            <a:pPr algn="l" indent="0" marL="0">
              <a:lnSpc>
                <a:spcPct val="112000"/>
              </a:lnSpc>
              <a:buNone/>
            </a:pPr>
            <a:r>
              <a:rPr lang="en-US" sz="850" dirty="0">
                <a:solidFill>
                  <a:srgbClr val="64748B"/>
                </a:solidFill>
                <a:latin typeface="Inter Light" pitchFamily="34" charset="0"/>
                <a:ea typeface="Inter Light" pitchFamily="34" charset="-122"/>
                <a:cs typeface="Inter Light" pitchFamily="34" charset="-120"/>
              </a:rPr>
              <a:t>Integrating longitudinal clinical data for deeper diagnostic accuracy.</a:t>
            </a:r>
            <a:endParaRPr lang="en-US" sz="850" dirty="0"/>
          </a:p>
        </p:txBody>
      </p:sp>
      <p:sp>
        <p:nvSpPr>
          <p:cNvPr id="12" name="Text 8"/>
          <p:cNvSpPr/>
          <p:nvPr/>
        </p:nvSpPr>
        <p:spPr>
          <a:xfrm>
            <a:off x="3000375" y="4200358"/>
            <a:ext cx="2143125" cy="121444"/>
          </a:xfrm>
          <a:prstGeom prst="rect">
            <a:avLst/>
          </a:prstGeom>
          <a:noFill/>
          <a:ln/>
        </p:spPr>
        <p:txBody>
          <a:bodyPr wrap="square" lIns="0" tIns="0" rIns="0" bIns="0" rtlCol="0" anchor="t">
            <a:spAutoFit/>
          </a:bodyPr>
          <a:lstStyle/>
          <a:p>
            <a:pPr algn="l" indent="0" marL="0">
              <a:buNone/>
            </a:pPr>
            <a:r>
              <a:rPr lang="en-US" sz="700" b="1" spc="2" kern="0" dirty="0">
                <a:solidFill>
                  <a:srgbClr val="818CF8"/>
                </a:solidFill>
                <a:latin typeface="Inter Black" pitchFamily="34" charset="0"/>
                <a:ea typeface="Inter Black" pitchFamily="34" charset="-122"/>
                <a:cs typeface="Inter Black" pitchFamily="34" charset="-120"/>
              </a:rPr>
              <a:t>PHASE 02</a:t>
            </a:r>
            <a:endParaRPr lang="en-US" sz="700" dirty="0"/>
          </a:p>
        </p:txBody>
      </p:sp>
      <p:sp>
        <p:nvSpPr>
          <p:cNvPr id="13" name="Text 9"/>
          <p:cNvSpPr/>
          <p:nvPr/>
        </p:nvSpPr>
        <p:spPr>
          <a:xfrm>
            <a:off x="3000375" y="4393239"/>
            <a:ext cx="2143125" cy="173236"/>
          </a:xfrm>
          <a:prstGeom prst="rect">
            <a:avLst/>
          </a:prstGeom>
          <a:noFill/>
          <a:ln/>
        </p:spPr>
        <p:txBody>
          <a:bodyPr wrap="square" lIns="0" tIns="0" rIns="0" bIns="0" rtlCol="0" anchor="t">
            <a:spAutoFit/>
          </a:bodyPr>
          <a:lstStyle/>
          <a:p>
            <a:pPr algn="l" indent="0" marL="0">
              <a:buNone/>
            </a:pPr>
            <a:r>
              <a:rPr lang="en-US" sz="1000" b="1" dirty="0">
                <a:solidFill>
                  <a:srgbClr val="FFFFFF"/>
                </a:solidFill>
                <a:latin typeface="Inter Black" pitchFamily="34" charset="0"/>
                <a:ea typeface="Inter Black" pitchFamily="34" charset="-122"/>
                <a:cs typeface="Inter Black" pitchFamily="34" charset="-120"/>
              </a:rPr>
              <a:t>Real-time API</a:t>
            </a:r>
            <a:endParaRPr lang="en-US" sz="1000" dirty="0"/>
          </a:p>
        </p:txBody>
      </p:sp>
      <p:sp>
        <p:nvSpPr>
          <p:cNvPr id="14" name="Text 10"/>
          <p:cNvSpPr/>
          <p:nvPr/>
        </p:nvSpPr>
        <p:spPr>
          <a:xfrm>
            <a:off x="3000375" y="4623625"/>
            <a:ext cx="2143125" cy="320018"/>
          </a:xfrm>
          <a:prstGeom prst="rect">
            <a:avLst/>
          </a:prstGeom>
          <a:noFill/>
          <a:ln/>
        </p:spPr>
        <p:txBody>
          <a:bodyPr wrap="square" lIns="0" tIns="0" rIns="0" bIns="0" rtlCol="0" anchor="t">
            <a:spAutoFit/>
          </a:bodyPr>
          <a:lstStyle/>
          <a:p>
            <a:pPr algn="l" indent="0" marL="0">
              <a:lnSpc>
                <a:spcPct val="112000"/>
              </a:lnSpc>
              <a:buNone/>
            </a:pPr>
            <a:r>
              <a:rPr lang="en-US" sz="850" dirty="0">
                <a:solidFill>
                  <a:srgbClr val="64748B"/>
                </a:solidFill>
                <a:latin typeface="Inter Light" pitchFamily="34" charset="0"/>
                <a:ea typeface="Inter Light" pitchFamily="34" charset="-122"/>
                <a:cs typeface="Inter Light" pitchFamily="34" charset="-120"/>
              </a:rPr>
              <a:t>Deploying scalable microservices for wearable tech integration.</a:t>
            </a:r>
            <a:endParaRPr lang="en-US" sz="850" dirty="0"/>
          </a:p>
        </p:txBody>
      </p:sp>
      <p:sp>
        <p:nvSpPr>
          <p:cNvPr id="15" name="Text 11"/>
          <p:cNvSpPr/>
          <p:nvPr/>
        </p:nvSpPr>
        <p:spPr>
          <a:xfrm>
            <a:off x="5429250" y="4200358"/>
            <a:ext cx="2143125" cy="121444"/>
          </a:xfrm>
          <a:prstGeom prst="rect">
            <a:avLst/>
          </a:prstGeom>
          <a:noFill/>
          <a:ln/>
        </p:spPr>
        <p:txBody>
          <a:bodyPr wrap="square" lIns="0" tIns="0" rIns="0" bIns="0" rtlCol="0" anchor="t">
            <a:spAutoFit/>
          </a:bodyPr>
          <a:lstStyle/>
          <a:p>
            <a:pPr algn="l" indent="0" marL="0">
              <a:buNone/>
            </a:pPr>
            <a:r>
              <a:rPr lang="en-US" sz="700" b="1" spc="2" kern="0" dirty="0">
                <a:solidFill>
                  <a:srgbClr val="818CF8"/>
                </a:solidFill>
                <a:latin typeface="Inter Black" pitchFamily="34" charset="0"/>
                <a:ea typeface="Inter Black" pitchFamily="34" charset="-122"/>
                <a:cs typeface="Inter Black" pitchFamily="34" charset="-120"/>
              </a:rPr>
              <a:t>PHASE 03</a:t>
            </a:r>
            <a:endParaRPr lang="en-US" sz="700" dirty="0"/>
          </a:p>
        </p:txBody>
      </p:sp>
      <p:sp>
        <p:nvSpPr>
          <p:cNvPr id="16" name="Text 12"/>
          <p:cNvSpPr/>
          <p:nvPr/>
        </p:nvSpPr>
        <p:spPr>
          <a:xfrm>
            <a:off x="5429250" y="4393239"/>
            <a:ext cx="2143125" cy="173236"/>
          </a:xfrm>
          <a:prstGeom prst="rect">
            <a:avLst/>
          </a:prstGeom>
          <a:noFill/>
          <a:ln/>
        </p:spPr>
        <p:txBody>
          <a:bodyPr wrap="square" lIns="0" tIns="0" rIns="0" bIns="0" rtlCol="0" anchor="t">
            <a:spAutoFit/>
          </a:bodyPr>
          <a:lstStyle/>
          <a:p>
            <a:pPr algn="l" indent="0" marL="0">
              <a:buNone/>
            </a:pPr>
            <a:r>
              <a:rPr lang="en-US" sz="1000" b="1" dirty="0">
                <a:solidFill>
                  <a:srgbClr val="FFFFFF"/>
                </a:solidFill>
                <a:latin typeface="Inter Black" pitchFamily="34" charset="0"/>
                <a:ea typeface="Inter Black" pitchFamily="34" charset="-122"/>
                <a:cs typeface="Inter Black" pitchFamily="34" charset="-120"/>
              </a:rPr>
              <a:t>Global Impact</a:t>
            </a:r>
            <a:endParaRPr lang="en-US" sz="1000" dirty="0"/>
          </a:p>
        </p:txBody>
      </p:sp>
      <p:sp>
        <p:nvSpPr>
          <p:cNvPr id="17" name="Text 13"/>
          <p:cNvSpPr/>
          <p:nvPr/>
        </p:nvSpPr>
        <p:spPr>
          <a:xfrm>
            <a:off x="5429250" y="4623625"/>
            <a:ext cx="2143125" cy="320018"/>
          </a:xfrm>
          <a:prstGeom prst="rect">
            <a:avLst/>
          </a:prstGeom>
          <a:noFill/>
          <a:ln/>
        </p:spPr>
        <p:txBody>
          <a:bodyPr wrap="square" lIns="0" tIns="0" rIns="0" bIns="0" rtlCol="0" anchor="t">
            <a:spAutoFit/>
          </a:bodyPr>
          <a:lstStyle/>
          <a:p>
            <a:pPr algn="l" indent="0" marL="0">
              <a:lnSpc>
                <a:spcPct val="112000"/>
              </a:lnSpc>
              <a:buNone/>
            </a:pPr>
            <a:r>
              <a:rPr lang="en-US" sz="850" dirty="0">
                <a:solidFill>
                  <a:srgbClr val="64748B"/>
                </a:solidFill>
                <a:latin typeface="Inter Light" pitchFamily="34" charset="0"/>
                <a:ea typeface="Inter Light" pitchFamily="34" charset="-122"/>
                <a:cs typeface="Inter Light" pitchFamily="34" charset="-120"/>
              </a:rPr>
              <a:t>Partnering with healthcare providers for early intervention programs.</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2026-05-08T16:31:27Z</dcterms:created>
  <dcterms:modified xsi:type="dcterms:W3CDTF">2026-05-08T16:31:27Z</dcterms:modified>
</cp:coreProperties>
</file>